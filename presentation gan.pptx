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5240000" cy="85725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227" autoAdjust="0"/>
  </p:normalViewPr>
  <p:slideViewPr>
    <p:cSldViewPr snapToGrid="0">
      <p:cViewPr varScale="1">
        <p:scale>
          <a:sx n="73" d="100"/>
          <a:sy n="73" d="100"/>
        </p:scale>
        <p:origin x="65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FID</c:v>
          </c:tx>
          <c:spPr>
            <a:solidFill>
              <a:srgbClr val="225C60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9DADA9"/>
              </a:solidFill>
            </c:spPr>
            <c:extLst>
              <c:ext xmlns:c16="http://schemas.microsoft.com/office/drawing/2014/chart" uri="{C3380CC4-5D6E-409C-BE32-E72D297353CC}">
                <c16:uniqueId val="{00000001-5940-4316-AE90-38E407177608}"/>
              </c:ext>
            </c:extLst>
          </c:dPt>
          <c:dPt>
            <c:idx val="1"/>
            <c:invertIfNegative val="0"/>
            <c:bubble3D val="0"/>
            <c:spPr>
              <a:solidFill>
                <a:srgbClr val="BCB1A1"/>
              </a:solidFill>
            </c:spPr>
            <c:extLst>
              <c:ext xmlns:c16="http://schemas.microsoft.com/office/drawing/2014/chart" uri="{C3380CC4-5D6E-409C-BE32-E72D297353CC}">
                <c16:uniqueId val="{00000003-5940-4316-AE90-38E40717760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940-4316-AE90-38E407177608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025" b="1">
                    <a:solidFill>
                      <a:srgbClr val="222623"/>
                    </a:solidFill>
                    <a:latin typeface="DejaVu Sans"/>
                    <a:ea typeface="DejaVu Sans"/>
                    <a:cs typeface="DejaVu San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EXP01</c:v>
                </c:pt>
                <c:pt idx="1">
                  <c:v>EXP02</c:v>
                </c:pt>
                <c:pt idx="2">
                  <c:v>EXP03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281.20899400000002</c:v>
                </c:pt>
                <c:pt idx="1">
                  <c:v>292.27204</c:v>
                </c:pt>
                <c:pt idx="2">
                  <c:v>266.86826100000002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5940-4316-AE90-38E40717760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ED8CD"/>
            </a:solidFill>
          </a:ln>
        </c:spPr>
        <c:txPr>
          <a:bodyPr anchorCtr="1"/>
          <a:lstStyle/>
          <a:p>
            <a:pPr>
              <a:defRPr sz="2025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endParaRPr lang="fr-F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50"/>
          <c:min val="0"/>
        </c:scaling>
        <c:delete val="0"/>
        <c:axPos val="l"/>
        <c:majorGridlines>
          <c:spPr>
            <a:ln w="9525">
              <a:solidFill>
                <a:srgbClr val="DED8C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725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endParaRPr lang="fr-FR"/>
          </a:p>
        </c:txPr>
        <c:crossAx val="48650112"/>
        <c:crosses val="autoZero"/>
        <c:crossBetween val="between"/>
        <c:majorUnit val="100"/>
      </c:valAx>
      <c:spPr>
        <a:solidFill>
          <a:srgbClr val="F6F2EA"/>
        </a:solidFill>
      </c:spPr>
    </c:plotArea>
    <c:plotVisOnly val="1"/>
    <c:dispBlanksAs val="zero"/>
    <c:showDLblsOverMax val="1"/>
  </c:chart>
  <c:spPr>
    <a:solidFill>
      <a:srgbClr val="F6F2EA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FA6C0E6-D32A-4791-A16E-7531B7C41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238500"/>
            <a:ext cx="12192000" cy="1238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596448B0-CB4D-494C-86E8-3AB7C277F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714875"/>
            <a:ext cx="10668000" cy="952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5945C59-7B01-4A34-9A74-0D2622A58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571875"/>
            <a:ext cx="12192000" cy="1428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93B7BB6-F04F-41CD-97FC-99D448D1D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0DD236F-7AA0-4505-99AB-F80A43CF5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13525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9F0E1BD-AF3B-45C1-BFCA-E06086E99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B49BD56-B6A8-4CA3-92D4-7EAC99D00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81822FA-F4F7-4F4F-AD9E-654DE32A8A8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096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A7CF1C5-3062-41D5-9E63-9F4BBE247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EA348E0-0BF3-45D7-9B02-3BE8E196E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079CAD-7C39-4F82-BB39-B8C080C8F53F}"/>
              </a:ext>
            </a:extLst>
          </p:cNvPr>
          <p:cNvSpPr>
            <a:spLocks noGrp="1"/>
          </p:cNvSpPr>
          <p:nvPr/>
        </p:nvSpPr>
        <p:spPr>
          <a:xfrm>
            <a:off x="800100" y="7972425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DED8CD"/>
                </a:solidFill>
                <a:latin typeface="DejaVu Sans"/>
                <a:ea typeface="DejaVu Sans"/>
                <a:cs typeface="DejaVu Sans"/>
              </a:rPr>
              <a:t>GANISME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A31B01-136D-4FD8-8C04-321EC6E021DF}"/>
              </a:ext>
            </a:extLst>
          </p:cNvPr>
          <p:cNvSpPr>
            <a:spLocks noGrp="1"/>
          </p:cNvSpPr>
          <p:nvPr/>
        </p:nvSpPr>
        <p:spPr>
          <a:xfrm>
            <a:off x="13811250" y="7924800"/>
            <a:ext cx="6286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0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500" b="0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ED8CD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04F0574-ACE3-4F3E-808D-F8A8E5D898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54" r="14854"/>
          <a:stretch>
            <a:fillRect/>
          </a:stretch>
        </p:blipFill>
        <p:spPr>
          <a:xfrm>
            <a:off x="10287000" y="0"/>
            <a:ext cx="4953000" cy="85725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98F2264-0B3C-4A9F-9B2C-6DD10D97ECC0}"/>
              </a:ext>
            </a:extLst>
          </p:cNvPr>
          <p:cNvSpPr>
            <a:spLocks noGrp="1"/>
          </p:cNvSpPr>
          <p:nvPr/>
        </p:nvSpPr>
        <p:spPr>
          <a:xfrm>
            <a:off x="800100" y="91440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875" b="1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DED8CD"/>
                </a:solidFill>
                <a:latin typeface="DejaVu Sans"/>
                <a:ea typeface="DejaVu Sans"/>
                <a:cs typeface="DejaVu Sans"/>
              </a:rPr>
              <a:t>GANISME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FA5F70-130F-4488-83F0-A0AA11A5BBDC}"/>
              </a:ext>
            </a:extLst>
          </p:cNvPr>
          <p:cNvSpPr>
            <a:spLocks noGrp="1"/>
          </p:cNvSpPr>
          <p:nvPr/>
        </p:nvSpPr>
        <p:spPr>
          <a:xfrm>
            <a:off x="800100" y="2238375"/>
            <a:ext cx="9334500" cy="3143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6450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6450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pPr>
            <a:r>
              <a:rPr sz="6450" b="1">
                <a:solidFill>
                  <a:srgbClr val="F6F2EA"/>
                </a:solidFill>
                <a:latin typeface="DejaVu Sans"/>
                <a:ea typeface="DejaVu Sans"/>
                <a:cs typeface="DejaVu Sans"/>
              </a:rPr>
              <a:t>Générer des</a:t>
            </a:r>
          </a:p>
          <a:p>
            <a:pPr>
              <a:defRPr sz="6450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pPr>
            <a:r>
              <a:rPr sz="6450" b="1">
                <a:solidFill>
                  <a:srgbClr val="F6F2EA"/>
                </a:solidFill>
                <a:latin typeface="DejaVu Sans"/>
                <a:ea typeface="DejaVu Sans"/>
                <a:cs typeface="DejaVu Sans"/>
              </a:rPr>
              <a:t>peintures avec</a:t>
            </a:r>
          </a:p>
          <a:p>
            <a:pPr>
              <a:defRPr sz="6450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pPr>
            <a:r>
              <a:rPr sz="6450" b="1">
                <a:solidFill>
                  <a:srgbClr val="F6F2EA"/>
                </a:solidFill>
                <a:latin typeface="DejaVu Sans"/>
                <a:ea typeface="DejaVu Sans"/>
                <a:cs typeface="DejaVu Sans"/>
              </a:rPr>
              <a:t>un DCGAN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0B50F0-1F5A-41E3-AF30-893B25B5CBC1}"/>
              </a:ext>
            </a:extLst>
          </p:cNvPr>
          <p:cNvSpPr>
            <a:spLocks noGrp="1"/>
          </p:cNvSpPr>
          <p:nvPr/>
        </p:nvSpPr>
        <p:spPr>
          <a:xfrm>
            <a:off x="838200" y="6096000"/>
            <a:ext cx="8667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0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75" b="0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DED8CD"/>
                </a:solidFill>
                <a:latin typeface="DejaVu Sans"/>
                <a:ea typeface="DejaVu Sans"/>
                <a:cs typeface="DejaVu Sans"/>
              </a:rPr>
              <a:t>Projet de Master 2 Data Engineering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22FC59-B6AB-489C-A9E3-54153F3255C4}"/>
              </a:ext>
            </a:extLst>
          </p:cNvPr>
          <p:cNvSpPr>
            <a:spLocks noGrp="1"/>
          </p:cNvSpPr>
          <p:nvPr/>
        </p:nvSpPr>
        <p:spPr>
          <a:xfrm>
            <a:off x="838200" y="7048500"/>
            <a:ext cx="8572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00" b="0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6F2EA"/>
                </a:solidFill>
                <a:latin typeface="DejaVu Sans"/>
                <a:ea typeface="DejaVu Sans"/>
                <a:cs typeface="DejaVu Sans"/>
              </a:rPr>
              <a:t>Aurélien Adjimi</a:t>
            </a:r>
          </a:p>
        </p:txBody>
      </p:sp>
    </p:spTree>
    <p:extLst>
      <p:ext uri="{BB962C8B-B14F-4D97-AF65-F5344CB8AC3E}">
        <p14:creationId xmlns:p14="http://schemas.microsoft.com/office/powerpoint/2010/main" val="932739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1267417-2689-4A50-B25F-90C993A054C6}"/>
              </a:ext>
            </a:extLst>
          </p:cNvPr>
          <p:cNvSpPr>
            <a:spLocks noGrp="1"/>
          </p:cNvSpPr>
          <p:nvPr/>
        </p:nvSpPr>
        <p:spPr>
          <a:xfrm>
            <a:off x="800100" y="628650"/>
            <a:ext cx="136398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Le périmètre du projet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335E78-6EBE-4A6D-BCD4-FFE8DFF04F6F}"/>
              </a:ext>
            </a:extLst>
          </p:cNvPr>
          <p:cNvSpPr>
            <a:spLocks noGrp="1"/>
          </p:cNvSpPr>
          <p:nvPr/>
        </p:nvSpPr>
        <p:spPr>
          <a:xfrm>
            <a:off x="800100" y="7972425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GANISME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DF5D2D-613E-4511-8A6C-5A99CCAD85E3}"/>
              </a:ext>
            </a:extLst>
          </p:cNvPr>
          <p:cNvSpPr>
            <a:spLocks noGrp="1"/>
          </p:cNvSpPr>
          <p:nvPr/>
        </p:nvSpPr>
        <p:spPr>
          <a:xfrm>
            <a:off x="13811250" y="7924800"/>
            <a:ext cx="6286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91BCD6-E001-4A4B-8B86-697EF1AF11AE}"/>
              </a:ext>
            </a:extLst>
          </p:cNvPr>
          <p:cNvSpPr>
            <a:spLocks noGrp="1"/>
          </p:cNvSpPr>
          <p:nvPr/>
        </p:nvSpPr>
        <p:spPr>
          <a:xfrm>
            <a:off x="800100" y="2381250"/>
            <a:ext cx="6858000" cy="1857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4500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4500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225C60"/>
                </a:solidFill>
                <a:latin typeface="DejaVu Sans"/>
                <a:ea typeface="DejaVu Sans"/>
                <a:cs typeface="DejaVu Sans"/>
              </a:rPr>
              <a:t>Une chaîne complète</a:t>
            </a:r>
          </a:p>
          <a:p>
            <a:pPr>
              <a:defRPr sz="4500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225C60"/>
                </a:solidFill>
                <a:latin typeface="DejaVu Sans"/>
                <a:ea typeface="DejaVu Sans"/>
                <a:cs typeface="DejaVu Sans"/>
              </a:rPr>
              <a:t>et explicable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D6E048-6533-4D81-8F6D-65CC52997671}"/>
              </a:ext>
            </a:extLst>
          </p:cNvPr>
          <p:cNvSpPr>
            <a:spLocks noGrp="1"/>
          </p:cNvSpPr>
          <p:nvPr/>
        </p:nvSpPr>
        <p:spPr>
          <a:xfrm>
            <a:off x="800100" y="4886325"/>
            <a:ext cx="6858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32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32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Un premier modèle accessible sur CPU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0A8494-E3DA-4649-AB95-1DDB132A8253}"/>
              </a:ext>
            </a:extLst>
          </p:cNvPr>
          <p:cNvSpPr>
            <a:spLocks noGrp="1"/>
          </p:cNvSpPr>
          <p:nvPr/>
        </p:nvSpPr>
        <p:spPr>
          <a:xfrm>
            <a:off x="8286750" y="23336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3E3BDB-68AB-4D15-B411-2A206204E7C9}"/>
              </a:ext>
            </a:extLst>
          </p:cNvPr>
          <p:cNvSpPr>
            <a:spLocks noGrp="1"/>
          </p:cNvSpPr>
          <p:nvPr/>
        </p:nvSpPr>
        <p:spPr>
          <a:xfrm>
            <a:off x="9163050" y="2333625"/>
            <a:ext cx="52197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Catalogue et acquisition des images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560F61-B092-41D5-BA1F-16B5C453B100}"/>
              </a:ext>
            </a:extLst>
          </p:cNvPr>
          <p:cNvSpPr>
            <a:spLocks noGrp="1"/>
          </p:cNvSpPr>
          <p:nvPr/>
        </p:nvSpPr>
        <p:spPr>
          <a:xfrm>
            <a:off x="8286750" y="345757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9F6374-C6EF-4285-9BD9-903D7E708B61}"/>
              </a:ext>
            </a:extLst>
          </p:cNvPr>
          <p:cNvSpPr>
            <a:spLocks noGrp="1"/>
          </p:cNvSpPr>
          <p:nvPr/>
        </p:nvSpPr>
        <p:spPr>
          <a:xfrm>
            <a:off x="9163050" y="3457575"/>
            <a:ext cx="52197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Préprocessing et apprentissage adversarial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130443-7910-46ED-8DDB-08D8348C364B}"/>
              </a:ext>
            </a:extLst>
          </p:cNvPr>
          <p:cNvSpPr>
            <a:spLocks noGrp="1"/>
          </p:cNvSpPr>
          <p:nvPr/>
        </p:nvSpPr>
        <p:spPr>
          <a:xfrm>
            <a:off x="8286750" y="45815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626D96-8069-4ADF-9670-4E7F825026D5}"/>
              </a:ext>
            </a:extLst>
          </p:cNvPr>
          <p:cNvSpPr>
            <a:spLocks noGrp="1"/>
          </p:cNvSpPr>
          <p:nvPr/>
        </p:nvSpPr>
        <p:spPr>
          <a:xfrm>
            <a:off x="9163050" y="4581525"/>
            <a:ext cx="52197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Expériences et évaluation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3141D5-6095-4C5A-A557-0BA97B3B5058}"/>
              </a:ext>
            </a:extLst>
          </p:cNvPr>
          <p:cNvSpPr>
            <a:spLocks noGrp="1"/>
          </p:cNvSpPr>
          <p:nvPr/>
        </p:nvSpPr>
        <p:spPr>
          <a:xfrm>
            <a:off x="8286750" y="570547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0F0977-7DAC-4CDB-AB10-7F30EB27D834}"/>
              </a:ext>
            </a:extLst>
          </p:cNvPr>
          <p:cNvSpPr>
            <a:spLocks noGrp="1"/>
          </p:cNvSpPr>
          <p:nvPr/>
        </p:nvSpPr>
        <p:spPr>
          <a:xfrm>
            <a:off x="9163050" y="5705475"/>
            <a:ext cx="52197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Application de démonstration</a:t>
            </a:r>
          </a:p>
        </p:txBody>
      </p:sp>
    </p:spTree>
    <p:extLst>
      <p:ext uri="{BB962C8B-B14F-4D97-AF65-F5344CB8AC3E}">
        <p14:creationId xmlns:p14="http://schemas.microsoft.com/office/powerpoint/2010/main" val="332233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DE96196-EC01-40BD-8CE3-39A8230018CC}"/>
              </a:ext>
            </a:extLst>
          </p:cNvPr>
          <p:cNvSpPr>
            <a:spLocks noGrp="1"/>
          </p:cNvSpPr>
          <p:nvPr/>
        </p:nvSpPr>
        <p:spPr>
          <a:xfrm>
            <a:off x="800100" y="628650"/>
            <a:ext cx="136398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Le catalogue et le corpus d’images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4A2B48-E0EB-4D78-95E9-2BCCE8EA22D0}"/>
              </a:ext>
            </a:extLst>
          </p:cNvPr>
          <p:cNvSpPr>
            <a:spLocks noGrp="1"/>
          </p:cNvSpPr>
          <p:nvPr/>
        </p:nvSpPr>
        <p:spPr>
          <a:xfrm>
            <a:off x="800100" y="7972425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GANISME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17557B-E333-4DB3-8627-88070E26A914}"/>
              </a:ext>
            </a:extLst>
          </p:cNvPr>
          <p:cNvSpPr>
            <a:spLocks noGrp="1"/>
          </p:cNvSpPr>
          <p:nvPr/>
        </p:nvSpPr>
        <p:spPr>
          <a:xfrm>
            <a:off x="13811250" y="7924800"/>
            <a:ext cx="6286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B15AAF-12AB-47D7-BF54-9C5FCF334894}"/>
              </a:ext>
            </a:extLst>
          </p:cNvPr>
          <p:cNvSpPr>
            <a:spLocks noGrp="1"/>
          </p:cNvSpPr>
          <p:nvPr/>
        </p:nvSpPr>
        <p:spPr>
          <a:xfrm>
            <a:off x="800100" y="2247900"/>
            <a:ext cx="523875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6900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6900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pPr>
            <a:r>
              <a:rPr sz="6900" b="1">
                <a:solidFill>
                  <a:srgbClr val="225C60"/>
                </a:solidFill>
                <a:latin typeface="DejaVu Sans"/>
                <a:ea typeface="DejaVu Sans"/>
                <a:cs typeface="DejaVu Sans"/>
              </a:rPr>
              <a:t>52 867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F99F01-BCE6-400D-B32F-675E9FC600FD}"/>
              </a:ext>
            </a:extLst>
          </p:cNvPr>
          <p:cNvSpPr>
            <a:spLocks noGrp="1"/>
          </p:cNvSpPr>
          <p:nvPr/>
        </p:nvSpPr>
        <p:spPr>
          <a:xfrm>
            <a:off x="838200" y="3381375"/>
            <a:ext cx="5619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00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œuvres dans le catalogue original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39A248-9169-4801-9078-39A1B415FC32}"/>
              </a:ext>
            </a:extLst>
          </p:cNvPr>
          <p:cNvSpPr>
            <a:spLocks noGrp="1"/>
          </p:cNvSpPr>
          <p:nvPr/>
        </p:nvSpPr>
        <p:spPr>
          <a:xfrm>
            <a:off x="800100" y="4448175"/>
            <a:ext cx="52387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6150" b="1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6150" b="1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6150" b="1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32 438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BC318A-46D7-4044-84E0-3670F0D08BCF}"/>
              </a:ext>
            </a:extLst>
          </p:cNvPr>
          <p:cNvSpPr>
            <a:spLocks noGrp="1"/>
          </p:cNvSpPr>
          <p:nvPr/>
        </p:nvSpPr>
        <p:spPr>
          <a:xfrm>
            <a:off x="838200" y="5543550"/>
            <a:ext cx="5238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00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entrées de type peinture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690D34-5637-465E-9DDA-FF200894F5D5}"/>
              </a:ext>
            </a:extLst>
          </p:cNvPr>
          <p:cNvSpPr>
            <a:spLocks noGrp="1"/>
          </p:cNvSpPr>
          <p:nvPr/>
        </p:nvSpPr>
        <p:spPr>
          <a:xfrm>
            <a:off x="838200" y="6667500"/>
            <a:ext cx="6858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75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75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AF5B35"/>
                </a:solidFill>
                <a:latin typeface="DejaVu Sans"/>
                <a:ea typeface="DejaVu Sans"/>
                <a:cs typeface="DejaVu Sans"/>
              </a:rPr>
              <a:t>1 000 images pour apprendre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9AD158B-C957-4253-9FC7-1D4EDE0F1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05625" y="2274197"/>
            <a:ext cx="7524750" cy="477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9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295667E-0F83-4B7D-8F5C-31D7B34B8CE3}"/>
              </a:ext>
            </a:extLst>
          </p:cNvPr>
          <p:cNvSpPr>
            <a:spLocks noGrp="1"/>
          </p:cNvSpPr>
          <p:nvPr/>
        </p:nvSpPr>
        <p:spPr>
          <a:xfrm>
            <a:off x="800100" y="628650"/>
            <a:ext cx="136398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Le nettoyage et l’analyse du catalogue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62E41D-DCC0-40BC-9803-3A494D0763ED}"/>
              </a:ext>
            </a:extLst>
          </p:cNvPr>
          <p:cNvSpPr>
            <a:spLocks noGrp="1"/>
          </p:cNvSpPr>
          <p:nvPr/>
        </p:nvSpPr>
        <p:spPr>
          <a:xfrm>
            <a:off x="800100" y="7972425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GANISME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2B5363-F704-47D9-BB92-D85273DE513C}"/>
              </a:ext>
            </a:extLst>
          </p:cNvPr>
          <p:cNvSpPr>
            <a:spLocks noGrp="1"/>
          </p:cNvSpPr>
          <p:nvPr/>
        </p:nvSpPr>
        <p:spPr>
          <a:xfrm>
            <a:off x="13811250" y="7924800"/>
            <a:ext cx="6286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EC8E6B-8635-4B11-BFFE-65416F5AB46F}"/>
              </a:ext>
            </a:extLst>
          </p:cNvPr>
          <p:cNvSpPr>
            <a:spLocks noGrp="1"/>
          </p:cNvSpPr>
          <p:nvPr/>
        </p:nvSpPr>
        <p:spPr>
          <a:xfrm>
            <a:off x="800100" y="2190750"/>
            <a:ext cx="6572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75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775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225C60"/>
                </a:solidFill>
                <a:latin typeface="DejaVu Sans"/>
                <a:ea typeface="DejaVu Sans"/>
                <a:cs typeface="DejaVu Sans"/>
              </a:rPr>
              <a:t>Nettoyage conservateur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C1B4F7-07C4-47C7-B1CF-7141F10B29EC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DDCCC5-D96B-40E9-9B42-ADC59697410E}"/>
              </a:ext>
            </a:extLst>
          </p:cNvPr>
          <p:cNvSpPr>
            <a:spLocks noGrp="1"/>
          </p:cNvSpPr>
          <p:nvPr/>
        </p:nvSpPr>
        <p:spPr>
          <a:xfrm>
            <a:off x="1676400" y="3095625"/>
            <a:ext cx="5791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Chaînes et catégories harmonisées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E4B4D2-DB27-4286-9C6B-EDB9B920F6AA}"/>
              </a:ext>
            </a:extLst>
          </p:cNvPr>
          <p:cNvSpPr>
            <a:spLocks noGrp="1"/>
          </p:cNvSpPr>
          <p:nvPr/>
        </p:nvSpPr>
        <p:spPr>
          <a:xfrm>
            <a:off x="800100" y="4076700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DE8378-BB4F-441A-979F-EA3B9F60C364}"/>
              </a:ext>
            </a:extLst>
          </p:cNvPr>
          <p:cNvSpPr>
            <a:spLocks noGrp="1"/>
          </p:cNvSpPr>
          <p:nvPr/>
        </p:nvSpPr>
        <p:spPr>
          <a:xfrm>
            <a:off x="1676400" y="4076700"/>
            <a:ext cx="5791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Doublons exacts supprimés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7391F1-9F10-485B-9B8D-2C6AB33AD5A8}"/>
              </a:ext>
            </a:extLst>
          </p:cNvPr>
          <p:cNvSpPr>
            <a:spLocks noGrp="1"/>
          </p:cNvSpPr>
          <p:nvPr/>
        </p:nvSpPr>
        <p:spPr>
          <a:xfrm>
            <a:off x="800100" y="505777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F86A21-A5BF-4DDD-B8E8-62E79D584A2F}"/>
              </a:ext>
            </a:extLst>
          </p:cNvPr>
          <p:cNvSpPr>
            <a:spLocks noGrp="1"/>
          </p:cNvSpPr>
          <p:nvPr/>
        </p:nvSpPr>
        <p:spPr>
          <a:xfrm>
            <a:off x="1676400" y="5057775"/>
            <a:ext cx="5791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Dates décrites par des bornes annuelles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968663-61F3-464D-A838-AF9342A2C96E}"/>
              </a:ext>
            </a:extLst>
          </p:cNvPr>
          <p:cNvSpPr>
            <a:spLocks noGrp="1"/>
          </p:cNvSpPr>
          <p:nvPr/>
        </p:nvSpPr>
        <p:spPr>
          <a:xfrm>
            <a:off x="800100" y="6038850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994DB3-0A78-4DA7-A584-A836A5E1C839}"/>
              </a:ext>
            </a:extLst>
          </p:cNvPr>
          <p:cNvSpPr>
            <a:spLocks noGrp="1"/>
          </p:cNvSpPr>
          <p:nvPr/>
        </p:nvSpPr>
        <p:spPr>
          <a:xfrm>
            <a:off x="1676400" y="6038850"/>
            <a:ext cx="5791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Valeurs originales et traçabilité conservées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71615A-986F-44AE-913E-6B52E087CA05}"/>
              </a:ext>
            </a:extLst>
          </p:cNvPr>
          <p:cNvSpPr>
            <a:spLocks noGrp="1"/>
          </p:cNvSpPr>
          <p:nvPr/>
        </p:nvSpPr>
        <p:spPr>
          <a:xfrm>
            <a:off x="8286750" y="2190750"/>
            <a:ext cx="619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75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775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225C60"/>
                </a:solidFill>
                <a:latin typeface="DejaVu Sans"/>
                <a:ea typeface="DejaVu Sans"/>
                <a:cs typeface="DejaVu Sans"/>
              </a:rPr>
              <a:t>Questions de l’EDA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635B8C-2A8F-40A6-99B9-0117CE7973C5}"/>
              </a:ext>
            </a:extLst>
          </p:cNvPr>
          <p:cNvSpPr>
            <a:spLocks noGrp="1"/>
          </p:cNvSpPr>
          <p:nvPr/>
        </p:nvSpPr>
        <p:spPr>
          <a:xfrm>
            <a:off x="8286750" y="3162300"/>
            <a:ext cx="6191250" cy="3190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32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32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Quelles attributions dominent ?</a:t>
            </a:r>
          </a:p>
          <a:p>
            <a:pPr>
              <a:defRPr sz="232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Quelles périodes sont représentées ?</a:t>
            </a:r>
          </a:p>
          <a:p>
            <a:pPr>
              <a:defRPr sz="232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Quelles informations manquent ?</a:t>
            </a:r>
          </a:p>
          <a:p>
            <a:pPr>
              <a:defRPr sz="232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Quels formats physiques apparaissent 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87252F-731C-4C90-81C9-D7A7FAA16F1D}"/>
              </a:ext>
            </a:extLst>
          </p:cNvPr>
          <p:cNvSpPr>
            <a:spLocks noGrp="1"/>
          </p:cNvSpPr>
          <p:nvPr/>
        </p:nvSpPr>
        <p:spPr>
          <a:xfrm>
            <a:off x="800100" y="7210425"/>
            <a:ext cx="13525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95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AF5B35"/>
                </a:solidFill>
                <a:latin typeface="DejaVu Sans"/>
                <a:ea typeface="DejaVu Sans"/>
                <a:cs typeface="DejaVu Sans"/>
              </a:rPr>
              <a:t>SCHOOL décrit une école. LOCATION décrit la conservation.</a:t>
            </a:r>
          </a:p>
        </p:txBody>
      </p:sp>
    </p:spTree>
    <p:extLst>
      <p:ext uri="{BB962C8B-B14F-4D97-AF65-F5344CB8AC3E}">
        <p14:creationId xmlns:p14="http://schemas.microsoft.com/office/powerpoint/2010/main" val="585828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D67DDD1-A50B-4EE9-999B-2B11ADCE6090}"/>
              </a:ext>
            </a:extLst>
          </p:cNvPr>
          <p:cNvSpPr>
            <a:spLocks noGrp="1"/>
          </p:cNvSpPr>
          <p:nvPr/>
        </p:nvSpPr>
        <p:spPr>
          <a:xfrm>
            <a:off x="800100" y="628650"/>
            <a:ext cx="136398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Le téléchargement des images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4DBAB5-9EAB-4F42-9789-965BE34E93F5}"/>
              </a:ext>
            </a:extLst>
          </p:cNvPr>
          <p:cNvSpPr>
            <a:spLocks noGrp="1"/>
          </p:cNvSpPr>
          <p:nvPr/>
        </p:nvSpPr>
        <p:spPr>
          <a:xfrm>
            <a:off x="800100" y="7972425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GANISME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55A620-A570-4A99-A760-BFA7DE061144}"/>
              </a:ext>
            </a:extLst>
          </p:cNvPr>
          <p:cNvSpPr>
            <a:spLocks noGrp="1"/>
          </p:cNvSpPr>
          <p:nvPr/>
        </p:nvSpPr>
        <p:spPr>
          <a:xfrm>
            <a:off x="13811250" y="7924800"/>
            <a:ext cx="6286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FB91E4-D351-4BC7-A3EE-051588B91572}"/>
              </a:ext>
            </a:extLst>
          </p:cNvPr>
          <p:cNvSpPr>
            <a:spLocks noGrp="1"/>
          </p:cNvSpPr>
          <p:nvPr/>
        </p:nvSpPr>
        <p:spPr>
          <a:xfrm>
            <a:off x="800100" y="22574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263443-BD58-43A8-8A2A-AA476791601C}"/>
              </a:ext>
            </a:extLst>
          </p:cNvPr>
          <p:cNvSpPr>
            <a:spLocks noGrp="1"/>
          </p:cNvSpPr>
          <p:nvPr/>
        </p:nvSpPr>
        <p:spPr>
          <a:xfrm>
            <a:off x="1676400" y="2257425"/>
            <a:ext cx="8362950" cy="1038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Le CSV fournit l’URL de la page de l’œuvre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467023-1AC2-4C80-93BA-54D799AE821F}"/>
              </a:ext>
            </a:extLst>
          </p:cNvPr>
          <p:cNvSpPr>
            <a:spLocks noGrp="1"/>
          </p:cNvSpPr>
          <p:nvPr/>
        </p:nvSpPr>
        <p:spPr>
          <a:xfrm>
            <a:off x="800100" y="3467100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69F3C0-6457-467A-995E-86C71C77B7BC}"/>
              </a:ext>
            </a:extLst>
          </p:cNvPr>
          <p:cNvSpPr>
            <a:spLocks noGrp="1"/>
          </p:cNvSpPr>
          <p:nvPr/>
        </p:nvSpPr>
        <p:spPr>
          <a:xfrm>
            <a:off x="1676400" y="3467100"/>
            <a:ext cx="8362950" cy="1038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Le HTML révèle plusieurs liens candidats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48949A-2F21-40F7-90A1-E16BD9239FA2}"/>
              </a:ext>
            </a:extLst>
          </p:cNvPr>
          <p:cNvSpPr>
            <a:spLocks noGrp="1"/>
          </p:cNvSpPr>
          <p:nvPr/>
        </p:nvSpPr>
        <p:spPr>
          <a:xfrm>
            <a:off x="800100" y="467677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1AAE52-3300-4CBA-9C07-7278172B3AF6}"/>
              </a:ext>
            </a:extLst>
          </p:cNvPr>
          <p:cNvSpPr>
            <a:spLocks noGrp="1"/>
          </p:cNvSpPr>
          <p:nvPr/>
        </p:nvSpPr>
        <p:spPr>
          <a:xfrm>
            <a:off x="1676400" y="4676775"/>
            <a:ext cx="8362950" cy="1038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Une règle sélectionne l’image de l’œuvre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05F04C-52F0-491F-8912-E2084AF7DF3C}"/>
              </a:ext>
            </a:extLst>
          </p:cNvPr>
          <p:cNvSpPr>
            <a:spLocks noGrp="1"/>
          </p:cNvSpPr>
          <p:nvPr/>
        </p:nvSpPr>
        <p:spPr>
          <a:xfrm>
            <a:off x="800100" y="5886450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77A5C4-0DD9-4E3A-86C6-7B120CC6786F}"/>
              </a:ext>
            </a:extLst>
          </p:cNvPr>
          <p:cNvSpPr>
            <a:spLocks noGrp="1"/>
          </p:cNvSpPr>
          <p:nvPr/>
        </p:nvSpPr>
        <p:spPr>
          <a:xfrm>
            <a:off x="1676400" y="5886450"/>
            <a:ext cx="8362950" cy="1038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Le fichier rejoint un manifeste de suivi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27BFA6-153B-460B-A204-F2D32605BC62}"/>
              </a:ext>
            </a:extLst>
          </p:cNvPr>
          <p:cNvSpPr>
            <a:spLocks noGrp="1"/>
          </p:cNvSpPr>
          <p:nvPr/>
        </p:nvSpPr>
        <p:spPr>
          <a:xfrm>
            <a:off x="10858500" y="2762250"/>
            <a:ext cx="3524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6450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6450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pPr>
            <a:r>
              <a:rPr sz="6450" b="1">
                <a:solidFill>
                  <a:srgbClr val="225C60"/>
                </a:solidFill>
                <a:latin typeface="DejaVu Sans"/>
                <a:ea typeface="DejaVu Sans"/>
                <a:cs typeface="DejaVu Sans"/>
              </a:rPr>
              <a:t>1 000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4E7305-E8F1-443B-9669-55699762E98B}"/>
              </a:ext>
            </a:extLst>
          </p:cNvPr>
          <p:cNvSpPr>
            <a:spLocks noGrp="1"/>
          </p:cNvSpPr>
          <p:nvPr/>
        </p:nvSpPr>
        <p:spPr>
          <a:xfrm>
            <a:off x="10915650" y="3905250"/>
            <a:ext cx="3333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700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succès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F6B097-C895-4E05-AC25-1DA62DFE6B57}"/>
              </a:ext>
            </a:extLst>
          </p:cNvPr>
          <p:cNvSpPr>
            <a:spLocks noGrp="1"/>
          </p:cNvSpPr>
          <p:nvPr/>
        </p:nvSpPr>
        <p:spPr>
          <a:xfrm>
            <a:off x="10915650" y="5133975"/>
            <a:ext cx="35242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157 erreurs</a:t>
            </a:r>
          </a:p>
          <a:p>
            <a:pPr>
              <a:defRPr sz="21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temporaires suivies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73CA40-07F3-42F1-9D76-422428AF1DC6}"/>
              </a:ext>
            </a:extLst>
          </p:cNvPr>
          <p:cNvSpPr>
            <a:spLocks noGrp="1"/>
          </p:cNvSpPr>
          <p:nvPr/>
        </p:nvSpPr>
        <p:spPr>
          <a:xfrm>
            <a:off x="800100" y="7305675"/>
            <a:ext cx="13335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95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AF5B35"/>
                </a:solidFill>
                <a:latin typeface="DejaVu Sans"/>
                <a:ea typeface="DejaVu Sans"/>
                <a:cs typeface="DejaVu Sans"/>
              </a:rPr>
              <a:t>Timeout, nouvelles tentatives, pauses et reprise après interruption</a:t>
            </a:r>
          </a:p>
        </p:txBody>
      </p:sp>
    </p:spTree>
    <p:extLst>
      <p:ext uri="{BB962C8B-B14F-4D97-AF65-F5344CB8AC3E}">
        <p14:creationId xmlns:p14="http://schemas.microsoft.com/office/powerpoint/2010/main" val="1389151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20AB69A-1CCA-4F3D-99E7-CB518DF426A8}"/>
              </a:ext>
            </a:extLst>
          </p:cNvPr>
          <p:cNvSpPr>
            <a:spLocks noGrp="1"/>
          </p:cNvSpPr>
          <p:nvPr/>
        </p:nvSpPr>
        <p:spPr>
          <a:xfrm>
            <a:off x="800100" y="628650"/>
            <a:ext cx="136398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Des images contrôlées aux tenseurs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CA38A3-50F2-45F3-AB33-3291E733C40E}"/>
              </a:ext>
            </a:extLst>
          </p:cNvPr>
          <p:cNvSpPr>
            <a:spLocks noGrp="1"/>
          </p:cNvSpPr>
          <p:nvPr/>
        </p:nvSpPr>
        <p:spPr>
          <a:xfrm>
            <a:off x="800100" y="7972425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GANISME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1CB19C-A1BF-4130-B131-87F10C1ADD95}"/>
              </a:ext>
            </a:extLst>
          </p:cNvPr>
          <p:cNvSpPr>
            <a:spLocks noGrp="1"/>
          </p:cNvSpPr>
          <p:nvPr/>
        </p:nvSpPr>
        <p:spPr>
          <a:xfrm>
            <a:off x="13811250" y="7924800"/>
            <a:ext cx="6286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15697C-68C6-4064-8663-6CFD428C0CF6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0487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4350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4350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225C60"/>
                </a:solidFill>
                <a:latin typeface="DejaVu Sans"/>
                <a:ea typeface="DejaVu Sans"/>
                <a:cs typeface="DejaVu Sans"/>
              </a:rPr>
              <a:t>1 000 utilisables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108598-DC5E-42EE-8E66-63090F662EAD}"/>
              </a:ext>
            </a:extLst>
          </p:cNvPr>
          <p:cNvSpPr>
            <a:spLocks noGrp="1"/>
          </p:cNvSpPr>
          <p:nvPr/>
        </p:nvSpPr>
        <p:spPr>
          <a:xfrm>
            <a:off x="800100" y="2962275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32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32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0 rejetée lors du contrôle initial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8340763C-90B6-402E-8074-B4B194E499CB}"/>
              </a:ext>
            </a:extLst>
          </p:cNvPr>
          <p:cNvGraphicFramePr/>
          <p:nvPr/>
        </p:nvGraphicFramePr>
        <p:xfrm>
          <a:off x="800100" y="3943350"/>
          <a:ext cx="13639800" cy="2952750"/>
        </p:xfrm>
        <a:graphic>
          <a:graphicData uri="http://schemas.openxmlformats.org/drawingml/2006/table">
            <a:tbl>
              <a:tblPr/>
              <a:tblGrid>
                <a:gridCol w="485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2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Préparation</a:t>
                      </a:r>
                    </a:p>
                  </a:txBody>
                  <a:tcPr anchor="ctr">
                    <a:solidFill>
                      <a:srgbClr val="225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Rôle</a:t>
                      </a:r>
                    </a:p>
                  </a:txBody>
                  <a:tcPr anchor="ctr">
                    <a:solidFill>
                      <a:srgbClr val="225C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Conversion RGB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Trois canaux pour toutes les images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Crop central puis resize</a:t>
                      </a:r>
                    </a:p>
                  </a:txBody>
                  <a:tcPr anchor="ctr">
                    <a:solidFill>
                      <a:srgbClr val="EC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Format carré de 32 × 32 pixels</a:t>
                      </a:r>
                    </a:p>
                  </a:txBody>
                  <a:tcPr anchor="ctr">
                    <a:solidFill>
                      <a:srgbClr val="ECE8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Conversion en tenseur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Valeurs flottantes et axes C, H, 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Normalisation après ToTensor</a:t>
                      </a:r>
                    </a:p>
                  </a:txBody>
                  <a:tcPr anchor="ctr">
                    <a:solidFill>
                      <a:srgbClr val="EC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Pixels placés dans [−1, 1]</a:t>
                      </a:r>
                    </a:p>
                  </a:txBody>
                  <a:tcPr anchor="ctr">
                    <a:solidFill>
                      <a:srgbClr val="ECE8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E55C4EFF-BD76-4B9F-BED5-B75B5BE3626F}"/>
              </a:ext>
            </a:extLst>
          </p:cNvPr>
          <p:cNvSpPr>
            <a:spLocks noGrp="1"/>
          </p:cNvSpPr>
          <p:nvPr/>
        </p:nvSpPr>
        <p:spPr>
          <a:xfrm>
            <a:off x="800100" y="7277100"/>
            <a:ext cx="9525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75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75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AF5B35"/>
                </a:solidFill>
                <a:latin typeface="DejaVu Sans"/>
                <a:ea typeface="DejaVu Sans"/>
                <a:cs typeface="DejaVu Sans"/>
              </a:rPr>
              <a:t>Batch validé : (32, 3, 32, 32)</a:t>
            </a:r>
          </a:p>
        </p:txBody>
      </p:sp>
    </p:spTree>
    <p:extLst>
      <p:ext uri="{BB962C8B-B14F-4D97-AF65-F5344CB8AC3E}">
        <p14:creationId xmlns:p14="http://schemas.microsoft.com/office/powerpoint/2010/main" val="1608649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DEC670C-9AAF-4D38-9A97-D678F9E33BAE}"/>
              </a:ext>
            </a:extLst>
          </p:cNvPr>
          <p:cNvSpPr>
            <a:spLocks noGrp="1"/>
          </p:cNvSpPr>
          <p:nvPr/>
        </p:nvSpPr>
        <p:spPr>
          <a:xfrm>
            <a:off x="800100" y="628650"/>
            <a:ext cx="136398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4350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4350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6F2EA"/>
                </a:solidFill>
                <a:latin typeface="DejaVu Sans"/>
                <a:ea typeface="DejaVu Sans"/>
                <a:cs typeface="DejaVu Sans"/>
              </a:rPr>
              <a:t>Le principe de l’apprentissage adversarial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367913-65B9-4456-8FAE-B5347D4EC18E}"/>
              </a:ext>
            </a:extLst>
          </p:cNvPr>
          <p:cNvSpPr>
            <a:spLocks noGrp="1"/>
          </p:cNvSpPr>
          <p:nvPr/>
        </p:nvSpPr>
        <p:spPr>
          <a:xfrm>
            <a:off x="800100" y="7972425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DED8CD"/>
                </a:solidFill>
                <a:latin typeface="DejaVu Sans"/>
                <a:ea typeface="DejaVu Sans"/>
                <a:cs typeface="DejaVu Sans"/>
              </a:rPr>
              <a:t>GANISME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0B07E6-212B-401D-A1CA-43F1913E945F}"/>
              </a:ext>
            </a:extLst>
          </p:cNvPr>
          <p:cNvSpPr>
            <a:spLocks noGrp="1"/>
          </p:cNvSpPr>
          <p:nvPr/>
        </p:nvSpPr>
        <p:spPr>
          <a:xfrm>
            <a:off x="13811250" y="7924800"/>
            <a:ext cx="6286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0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500" b="0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ED8CD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FD066D-FFA9-42E7-BA42-DC224F2F7EF5}"/>
              </a:ext>
            </a:extLst>
          </p:cNvPr>
          <p:cNvSpPr>
            <a:spLocks noGrp="1"/>
          </p:cNvSpPr>
          <p:nvPr/>
        </p:nvSpPr>
        <p:spPr>
          <a:xfrm>
            <a:off x="800100" y="2257425"/>
            <a:ext cx="6381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675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675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F6F2EA"/>
                </a:solidFill>
                <a:latin typeface="DejaVu Sans"/>
                <a:ea typeface="DejaVu Sans"/>
                <a:cs typeface="DejaVu Sans"/>
              </a:rPr>
              <a:t>Générateur 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C44DA1-2D2C-4B54-827B-2BBB1E718E79}"/>
              </a:ext>
            </a:extLst>
          </p:cNvPr>
          <p:cNvSpPr>
            <a:spLocks noGrp="1"/>
          </p:cNvSpPr>
          <p:nvPr/>
        </p:nvSpPr>
        <p:spPr>
          <a:xfrm>
            <a:off x="800100" y="3505200"/>
            <a:ext cx="657225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625" b="0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625" b="0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DED8CD"/>
                </a:solidFill>
                <a:latin typeface="DejaVu Sans"/>
                <a:ea typeface="DejaVu Sans"/>
                <a:cs typeface="DejaVu Sans"/>
              </a:rPr>
              <a:t>Un vecteur aléatoire z</a:t>
            </a:r>
          </a:p>
          <a:p>
            <a:pPr>
              <a:defRPr sz="2625" b="0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DED8CD"/>
                </a:solidFill>
                <a:latin typeface="DejaVu Sans"/>
                <a:ea typeface="DejaVu Sans"/>
                <a:cs typeface="DejaVu Sans"/>
              </a:rPr>
              <a:t>Une image synthétique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133E16-8E78-408C-9D62-97C6C90BC2FE}"/>
              </a:ext>
            </a:extLst>
          </p:cNvPr>
          <p:cNvSpPr>
            <a:spLocks noGrp="1"/>
          </p:cNvSpPr>
          <p:nvPr/>
        </p:nvSpPr>
        <p:spPr>
          <a:xfrm>
            <a:off x="800100" y="59912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00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6F2EA"/>
                </a:solidFill>
                <a:latin typeface="DejaVu Sans"/>
                <a:ea typeface="DejaVu Sans"/>
                <a:cs typeface="DejaVu Sans"/>
              </a:rPr>
              <a:t>Objectif : produire une image</a:t>
            </a:r>
          </a:p>
          <a:p>
            <a:pPr>
              <a:defRPr sz="2400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6F2EA"/>
                </a:solidFill>
                <a:latin typeface="DejaVu Sans"/>
                <a:ea typeface="DejaVu Sans"/>
                <a:cs typeface="DejaVu Sans"/>
              </a:rPr>
              <a:t>que D juge réelle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70C734-6992-4D5A-9946-641590B5D271}"/>
              </a:ext>
            </a:extLst>
          </p:cNvPr>
          <p:cNvSpPr>
            <a:spLocks noGrp="1"/>
          </p:cNvSpPr>
          <p:nvPr/>
        </p:nvSpPr>
        <p:spPr>
          <a:xfrm>
            <a:off x="8382000" y="2257425"/>
            <a:ext cx="628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675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675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F6F2EA"/>
                </a:solidFill>
                <a:latin typeface="DejaVu Sans"/>
                <a:ea typeface="DejaVu Sans"/>
                <a:cs typeface="DejaVu Sans"/>
              </a:rPr>
              <a:t>Discriminateur 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AC8D0E-0D5C-45B2-8096-2B840E8FAFFA}"/>
              </a:ext>
            </a:extLst>
          </p:cNvPr>
          <p:cNvSpPr>
            <a:spLocks noGrp="1"/>
          </p:cNvSpPr>
          <p:nvPr/>
        </p:nvSpPr>
        <p:spPr>
          <a:xfrm>
            <a:off x="8382000" y="3505200"/>
            <a:ext cx="590550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625" b="0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625" b="0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DED8CD"/>
                </a:solidFill>
                <a:latin typeface="DejaVu Sans"/>
                <a:ea typeface="DejaVu Sans"/>
                <a:cs typeface="DejaVu Sans"/>
              </a:rPr>
              <a:t>Une image réelle ou synthétique</a:t>
            </a:r>
          </a:p>
          <a:p>
            <a:pPr>
              <a:defRPr sz="2625" b="0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DED8CD"/>
                </a:solidFill>
                <a:latin typeface="DejaVu Sans"/>
                <a:ea typeface="DejaVu Sans"/>
                <a:cs typeface="DejaVu Sans"/>
              </a:rPr>
              <a:t>Un score réel ou faux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E82C9A-4968-4C71-9249-343495962ED2}"/>
              </a:ext>
            </a:extLst>
          </p:cNvPr>
          <p:cNvSpPr>
            <a:spLocks noGrp="1"/>
          </p:cNvSpPr>
          <p:nvPr/>
        </p:nvSpPr>
        <p:spPr>
          <a:xfrm>
            <a:off x="8382000" y="5991225"/>
            <a:ext cx="5905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00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6F2EA"/>
                </a:solidFill>
                <a:latin typeface="DejaVu Sans"/>
                <a:ea typeface="DejaVu Sans"/>
                <a:cs typeface="DejaVu Sans"/>
              </a:rPr>
              <a:t>Objectif : distinguer</a:t>
            </a:r>
          </a:p>
          <a:p>
            <a:pPr>
              <a:defRPr sz="2400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6F2EA"/>
                </a:solidFill>
                <a:latin typeface="DejaVu Sans"/>
                <a:ea typeface="DejaVu Sans"/>
                <a:cs typeface="DejaVu Sans"/>
              </a:rPr>
              <a:t>les deux origines</a:t>
            </a:r>
          </a:p>
        </p:txBody>
      </p:sp>
    </p:spTree>
    <p:extLst>
      <p:ext uri="{BB962C8B-B14F-4D97-AF65-F5344CB8AC3E}">
        <p14:creationId xmlns:p14="http://schemas.microsoft.com/office/powerpoint/2010/main" val="1791891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A1CF1F3-04FA-4425-8C78-2F0774C69B9E}"/>
              </a:ext>
            </a:extLst>
          </p:cNvPr>
          <p:cNvSpPr>
            <a:spLocks noGrp="1"/>
          </p:cNvSpPr>
          <p:nvPr/>
        </p:nvSpPr>
        <p:spPr>
          <a:xfrm>
            <a:off x="800100" y="628650"/>
            <a:ext cx="136398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Un DCGAN compact en 32 pixels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E2CD43-E6D7-4C64-8154-7E79697F7006}"/>
              </a:ext>
            </a:extLst>
          </p:cNvPr>
          <p:cNvSpPr>
            <a:spLocks noGrp="1"/>
          </p:cNvSpPr>
          <p:nvPr/>
        </p:nvSpPr>
        <p:spPr>
          <a:xfrm>
            <a:off x="800100" y="7972425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GANISME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66D2AA-FBDB-4870-A8E9-8B52ED923165}"/>
              </a:ext>
            </a:extLst>
          </p:cNvPr>
          <p:cNvSpPr>
            <a:spLocks noGrp="1"/>
          </p:cNvSpPr>
          <p:nvPr/>
        </p:nvSpPr>
        <p:spPr>
          <a:xfrm>
            <a:off x="13811250" y="7924800"/>
            <a:ext cx="6286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37A22D4A-FFAA-46F6-84F5-ACA6CD83C75B}"/>
              </a:ext>
            </a:extLst>
          </p:cNvPr>
          <p:cNvGraphicFramePr/>
          <p:nvPr/>
        </p:nvGraphicFramePr>
        <p:xfrm>
          <a:off x="800100" y="2143125"/>
          <a:ext cx="13639800" cy="4000500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Étape</a:t>
                      </a:r>
                    </a:p>
                  </a:txBody>
                  <a:tcPr anchor="ctr">
                    <a:solidFill>
                      <a:srgbClr val="225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Générateur</a:t>
                      </a:r>
                    </a:p>
                  </a:txBody>
                  <a:tcPr anchor="ctr">
                    <a:solidFill>
                      <a:srgbClr val="225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Discriminateur</a:t>
                      </a:r>
                    </a:p>
                  </a:txBody>
                  <a:tcPr anchor="ctr">
                    <a:solidFill>
                      <a:srgbClr val="225C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Entrée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z de 100 valeurs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Image 3 × 32 × 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Première représentation</a:t>
                      </a:r>
                    </a:p>
                  </a:txBody>
                  <a:tcPr anchor="ctr">
                    <a:solidFill>
                      <a:srgbClr val="EC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128 × 4 × 4</a:t>
                      </a:r>
                    </a:p>
                  </a:txBody>
                  <a:tcPr anchor="ctr">
                    <a:solidFill>
                      <a:srgbClr val="EC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32 × 16 × 16</a:t>
                      </a:r>
                    </a:p>
                  </a:txBody>
                  <a:tcPr anchor="ctr">
                    <a:solidFill>
                      <a:srgbClr val="ECE8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Intermédiaire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64 × 8 × 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64 × 8 × 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Intermédiaire</a:t>
                      </a:r>
                    </a:p>
                  </a:txBody>
                  <a:tcPr anchor="ctr">
                    <a:solidFill>
                      <a:srgbClr val="EC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32 × 16 × 16</a:t>
                      </a:r>
                    </a:p>
                  </a:txBody>
                  <a:tcPr anchor="ctr">
                    <a:solidFill>
                      <a:srgbClr val="EC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128 × 4 × 4</a:t>
                      </a:r>
                    </a:p>
                  </a:txBody>
                  <a:tcPr anchor="ctr">
                    <a:solidFill>
                      <a:srgbClr val="ECE8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Sortie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 × 32 × 32, Tanh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logit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FADC2E3-7A5B-48DF-A675-E3EE18E0FC08}"/>
              </a:ext>
            </a:extLst>
          </p:cNvPr>
          <p:cNvSpPr>
            <a:spLocks noGrp="1"/>
          </p:cNvSpPr>
          <p:nvPr/>
        </p:nvSpPr>
        <p:spPr>
          <a:xfrm>
            <a:off x="800100" y="6800850"/>
            <a:ext cx="73342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00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25C60"/>
                </a:solidFill>
                <a:latin typeface="DejaVu Sans"/>
                <a:ea typeface="DejaVu Sans"/>
                <a:cs typeface="DejaVu Sans"/>
              </a:rPr>
              <a:t>372 675 paramètres dans 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6F3945-124F-46AB-9B3D-48DFA43D94B6}"/>
              </a:ext>
            </a:extLst>
          </p:cNvPr>
          <p:cNvSpPr>
            <a:spLocks noGrp="1"/>
          </p:cNvSpPr>
          <p:nvPr/>
        </p:nvSpPr>
        <p:spPr>
          <a:xfrm>
            <a:off x="8229600" y="6800850"/>
            <a:ext cx="6477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00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25C60"/>
                </a:solidFill>
                <a:latin typeface="DejaVu Sans"/>
                <a:ea typeface="DejaVu Sans"/>
                <a:cs typeface="DejaVu Sans"/>
              </a:rPr>
              <a:t>167 841 paramètres dans D</a:t>
            </a:r>
          </a:p>
        </p:txBody>
      </p:sp>
    </p:spTree>
    <p:extLst>
      <p:ext uri="{BB962C8B-B14F-4D97-AF65-F5344CB8AC3E}">
        <p14:creationId xmlns:p14="http://schemas.microsoft.com/office/powerpoint/2010/main" val="1037910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B7AC02C-5175-4194-B892-EBBFCA3356AD}"/>
              </a:ext>
            </a:extLst>
          </p:cNvPr>
          <p:cNvSpPr>
            <a:spLocks noGrp="1"/>
          </p:cNvSpPr>
          <p:nvPr/>
        </p:nvSpPr>
        <p:spPr>
          <a:xfrm>
            <a:off x="800100" y="628650"/>
            <a:ext cx="136398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Les objectifs et la fonction de perte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DD5009-822A-4CD7-BFF0-D3FEA0ECBEAE}"/>
              </a:ext>
            </a:extLst>
          </p:cNvPr>
          <p:cNvSpPr>
            <a:spLocks noGrp="1"/>
          </p:cNvSpPr>
          <p:nvPr/>
        </p:nvSpPr>
        <p:spPr>
          <a:xfrm>
            <a:off x="800100" y="7972425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GANISME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B2798F-CF1B-44D1-BC98-28109D91C038}"/>
              </a:ext>
            </a:extLst>
          </p:cNvPr>
          <p:cNvSpPr>
            <a:spLocks noGrp="1"/>
          </p:cNvSpPr>
          <p:nvPr/>
        </p:nvSpPr>
        <p:spPr>
          <a:xfrm>
            <a:off x="13811250" y="7924800"/>
            <a:ext cx="6286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53B47553-7301-4C48-8A4D-D3B9E501E518}"/>
              </a:ext>
            </a:extLst>
          </p:cNvPr>
          <p:cNvGraphicFramePr/>
          <p:nvPr/>
        </p:nvGraphicFramePr>
        <p:xfrm>
          <a:off x="800100" y="2362200"/>
          <a:ext cx="13639800" cy="3000376"/>
        </p:xfrm>
        <a:graphic>
          <a:graphicData uri="http://schemas.openxmlformats.org/drawingml/2006/table">
            <a:tbl>
              <a:tblPr/>
              <a:tblGrid>
                <a:gridCol w="404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009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Mise à jour</a:t>
                      </a:r>
                    </a:p>
                  </a:txBody>
                  <a:tcPr anchor="ctr">
                    <a:solidFill>
                      <a:srgbClr val="225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Images présentées à D</a:t>
                      </a:r>
                    </a:p>
                  </a:txBody>
                  <a:tcPr anchor="ctr">
                    <a:solidFill>
                      <a:srgbClr val="225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Cible</a:t>
                      </a:r>
                    </a:p>
                  </a:txBody>
                  <a:tcPr anchor="ctr">
                    <a:solidFill>
                      <a:srgbClr val="225C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09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Discriminateur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Images réelles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09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Discriminateur</a:t>
                      </a:r>
                    </a:p>
                  </a:txBody>
                  <a:tcPr anchor="ctr">
                    <a:solidFill>
                      <a:srgbClr val="EC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Images générées</a:t>
                      </a:r>
                    </a:p>
                  </a:txBody>
                  <a:tcPr anchor="ctr">
                    <a:solidFill>
                      <a:srgbClr val="EC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anchor="ctr">
                    <a:solidFill>
                      <a:srgbClr val="ECE8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09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Générateur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Ses propres images générées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6DED5B2-1D06-496E-942E-D56D5775F3C0}"/>
              </a:ext>
            </a:extLst>
          </p:cNvPr>
          <p:cNvSpPr>
            <a:spLocks noGrp="1"/>
          </p:cNvSpPr>
          <p:nvPr/>
        </p:nvSpPr>
        <p:spPr>
          <a:xfrm>
            <a:off x="800100" y="5953125"/>
            <a:ext cx="9906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450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450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25C60"/>
                </a:solidFill>
                <a:latin typeface="DejaVu Sans"/>
                <a:ea typeface="DejaVu Sans"/>
                <a:cs typeface="DejaVu Sans"/>
              </a:rPr>
              <a:t>BCEWithLogitsLoss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B3FCF2-921B-4EEC-A606-2D2406D2C88E}"/>
              </a:ext>
            </a:extLst>
          </p:cNvPr>
          <p:cNvSpPr>
            <a:spLocks noGrp="1"/>
          </p:cNvSpPr>
          <p:nvPr/>
        </p:nvSpPr>
        <p:spPr>
          <a:xfrm>
            <a:off x="800100" y="6972300"/>
            <a:ext cx="13335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250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Logits en sortie de D. Objectif non saturant pour G.</a:t>
            </a:r>
          </a:p>
        </p:txBody>
      </p:sp>
    </p:spTree>
    <p:extLst>
      <p:ext uri="{BB962C8B-B14F-4D97-AF65-F5344CB8AC3E}">
        <p14:creationId xmlns:p14="http://schemas.microsoft.com/office/powerpoint/2010/main" val="434402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30523EF-5397-44B7-BA66-5AC575167DAD}"/>
              </a:ext>
            </a:extLst>
          </p:cNvPr>
          <p:cNvSpPr>
            <a:spLocks noGrp="1"/>
          </p:cNvSpPr>
          <p:nvPr/>
        </p:nvSpPr>
        <p:spPr>
          <a:xfrm>
            <a:off x="800100" y="628650"/>
            <a:ext cx="136398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4350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4350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6F2EA"/>
                </a:solidFill>
                <a:latin typeface="DejaVu Sans"/>
                <a:ea typeface="DejaVu Sans"/>
                <a:cs typeface="DejaVu Sans"/>
              </a:rPr>
              <a:t>L’entraînement et son suivi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FDF358-330B-4AC6-BEB1-55F940C586D3}"/>
              </a:ext>
            </a:extLst>
          </p:cNvPr>
          <p:cNvSpPr>
            <a:spLocks noGrp="1"/>
          </p:cNvSpPr>
          <p:nvPr/>
        </p:nvSpPr>
        <p:spPr>
          <a:xfrm>
            <a:off x="800100" y="7972425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DED8CD"/>
                </a:solidFill>
                <a:latin typeface="DejaVu Sans"/>
                <a:ea typeface="DejaVu Sans"/>
                <a:cs typeface="DejaVu Sans"/>
              </a:rPr>
              <a:t>GANISME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A495D0-C56F-408F-83FD-1293C19B15CE}"/>
              </a:ext>
            </a:extLst>
          </p:cNvPr>
          <p:cNvSpPr>
            <a:spLocks noGrp="1"/>
          </p:cNvSpPr>
          <p:nvPr/>
        </p:nvSpPr>
        <p:spPr>
          <a:xfrm>
            <a:off x="13811250" y="7924800"/>
            <a:ext cx="6286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0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500" b="0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ED8CD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40BFA92-3CAB-4986-BAAC-D251BD61B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0100" y="2266950"/>
            <a:ext cx="4286250" cy="42862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5121C59-5464-47CA-80A2-3CAECA1A797D}"/>
              </a:ext>
            </a:extLst>
          </p:cNvPr>
          <p:cNvSpPr>
            <a:spLocks noGrp="1"/>
          </p:cNvSpPr>
          <p:nvPr/>
        </p:nvSpPr>
        <p:spPr>
          <a:xfrm>
            <a:off x="800100" y="6743700"/>
            <a:ext cx="428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00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6F2EA"/>
                </a:solidFill>
                <a:latin typeface="DejaVu Sans"/>
                <a:ea typeface="DejaVu Sans"/>
                <a:cs typeface="DejaVu Sans"/>
              </a:rPr>
              <a:t>Époque 1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167F6C6-C5DF-414D-9FE8-3B72AF45E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377710" y="2266950"/>
            <a:ext cx="4275029" cy="42862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88FF19C-82FD-49D4-A674-6A61F3FAC638}"/>
              </a:ext>
            </a:extLst>
          </p:cNvPr>
          <p:cNvSpPr>
            <a:spLocks noGrp="1"/>
          </p:cNvSpPr>
          <p:nvPr/>
        </p:nvSpPr>
        <p:spPr>
          <a:xfrm>
            <a:off x="5372100" y="6743700"/>
            <a:ext cx="428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00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6F2EA"/>
                </a:solidFill>
                <a:latin typeface="DejaVu Sans"/>
                <a:ea typeface="DejaVu Sans"/>
                <a:cs typeface="DejaVu Sans"/>
              </a:rPr>
              <a:t>Époque 10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3D39DFB-4A3D-4CF4-B37D-907840EE14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944100" y="2266950"/>
            <a:ext cx="4286250" cy="42862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BF41FAE-2A0A-49DE-899F-7D9A1BB47D46}"/>
              </a:ext>
            </a:extLst>
          </p:cNvPr>
          <p:cNvSpPr>
            <a:spLocks noGrp="1"/>
          </p:cNvSpPr>
          <p:nvPr/>
        </p:nvSpPr>
        <p:spPr>
          <a:xfrm>
            <a:off x="9944100" y="6743700"/>
            <a:ext cx="428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00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6F2EA"/>
                </a:solidFill>
                <a:latin typeface="DejaVu Sans"/>
                <a:ea typeface="DejaVu Sans"/>
                <a:cs typeface="DejaVu Sans"/>
              </a:rPr>
              <a:t>Époque 20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2246A9-7EB7-49E6-84C9-6D55B0B1DE0F}"/>
              </a:ext>
            </a:extLst>
          </p:cNvPr>
          <p:cNvSpPr>
            <a:spLocks noGrp="1"/>
          </p:cNvSpPr>
          <p:nvPr/>
        </p:nvSpPr>
        <p:spPr>
          <a:xfrm>
            <a:off x="800100" y="7486650"/>
            <a:ext cx="133350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950" b="0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DED8CD"/>
                </a:solidFill>
                <a:latin typeface="DejaVu Sans"/>
                <a:ea typeface="DejaVu Sans"/>
                <a:cs typeface="DejaVu Sans"/>
              </a:rPr>
              <a:t>20 époques sur CPU. Environ 9 minutes par expérience.</a:t>
            </a:r>
          </a:p>
        </p:txBody>
      </p:sp>
    </p:spTree>
    <p:extLst>
      <p:ext uri="{BB962C8B-B14F-4D97-AF65-F5344CB8AC3E}">
        <p14:creationId xmlns:p14="http://schemas.microsoft.com/office/powerpoint/2010/main" val="240370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4857686-41D5-4DB3-9A8C-BF0C07E3F3A4}"/>
              </a:ext>
            </a:extLst>
          </p:cNvPr>
          <p:cNvSpPr>
            <a:spLocks noGrp="1"/>
          </p:cNvSpPr>
          <p:nvPr/>
        </p:nvSpPr>
        <p:spPr>
          <a:xfrm>
            <a:off x="800100" y="628650"/>
            <a:ext cx="136398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Trois expériences contrôlées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C608DA-F4C0-4712-AA45-FF935469EB23}"/>
              </a:ext>
            </a:extLst>
          </p:cNvPr>
          <p:cNvSpPr>
            <a:spLocks noGrp="1"/>
          </p:cNvSpPr>
          <p:nvPr/>
        </p:nvSpPr>
        <p:spPr>
          <a:xfrm>
            <a:off x="800100" y="7972425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GANISME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923C91-F39A-49ED-96F0-C31C8BD9932C}"/>
              </a:ext>
            </a:extLst>
          </p:cNvPr>
          <p:cNvSpPr>
            <a:spLocks noGrp="1"/>
          </p:cNvSpPr>
          <p:nvPr/>
        </p:nvSpPr>
        <p:spPr>
          <a:xfrm>
            <a:off x="13811250" y="7924800"/>
            <a:ext cx="6286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558CF94E-A37C-40B2-97D4-73CAB2615CF6}"/>
              </a:ext>
            </a:extLst>
          </p:cNvPr>
          <p:cNvGraphicFramePr/>
          <p:nvPr/>
        </p:nvGraphicFramePr>
        <p:xfrm>
          <a:off x="800100" y="2247900"/>
          <a:ext cx="13639800" cy="2857500"/>
        </p:xfrm>
        <a:graphic>
          <a:graphicData uri="http://schemas.openxmlformats.org/drawingml/2006/table">
            <a:tbl>
              <a:tblPr/>
              <a:tblGrid>
                <a:gridCol w="321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Expérience</a:t>
                      </a:r>
                    </a:p>
                  </a:txBody>
                  <a:tcPr anchor="ctr">
                    <a:solidFill>
                      <a:srgbClr val="225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LR de G</a:t>
                      </a:r>
                    </a:p>
                  </a:txBody>
                  <a:tcPr anchor="ctr">
                    <a:solidFill>
                      <a:srgbClr val="225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LR de D</a:t>
                      </a:r>
                    </a:p>
                  </a:txBody>
                  <a:tcPr anchor="ctr">
                    <a:solidFill>
                      <a:srgbClr val="225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Batch</a:t>
                      </a:r>
                    </a:p>
                  </a:txBody>
                  <a:tcPr anchor="ctr">
                    <a:solidFill>
                      <a:srgbClr val="225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Époques</a:t>
                      </a:r>
                    </a:p>
                  </a:txBody>
                  <a:tcPr anchor="ctr">
                    <a:solidFill>
                      <a:srgbClr val="225C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EXP02</a:t>
                      </a:r>
                    </a:p>
                  </a:txBody>
                  <a:tcPr anchor="ctr">
                    <a:solidFill>
                      <a:srgbClr val="EC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0,0002</a:t>
                      </a:r>
                    </a:p>
                  </a:txBody>
                  <a:tcPr anchor="ctr">
                    <a:solidFill>
                      <a:srgbClr val="EC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0,0001</a:t>
                      </a:r>
                    </a:p>
                  </a:txBody>
                  <a:tcPr anchor="ctr">
                    <a:solidFill>
                      <a:srgbClr val="EC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32</a:t>
                      </a:r>
                    </a:p>
                  </a:txBody>
                  <a:tcPr anchor="ctr">
                    <a:solidFill>
                      <a:srgbClr val="EC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</a:t>
                      </a:r>
                    </a:p>
                  </a:txBody>
                  <a:tcPr anchor="ctr">
                    <a:solidFill>
                      <a:srgbClr val="ECE8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90F9A98-5AEA-441C-AEEE-59E9D71A9AB8}"/>
              </a:ext>
            </a:extLst>
          </p:cNvPr>
          <p:cNvSpPr>
            <a:spLocks noGrp="1"/>
          </p:cNvSpPr>
          <p:nvPr/>
        </p:nvSpPr>
        <p:spPr>
          <a:xfrm>
            <a:off x="800100" y="5857875"/>
            <a:ext cx="13335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550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550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25C60"/>
                </a:solidFill>
                <a:latin typeface="DejaVu Sans"/>
                <a:ea typeface="DejaVu Sans"/>
                <a:cs typeface="DejaVu Sans"/>
              </a:rPr>
              <a:t>EXP02 teste un discriminateur moins rapide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E12BAC-3FB8-47B8-8EC9-EF0206E2CC64}"/>
              </a:ext>
            </a:extLst>
          </p:cNvPr>
          <p:cNvSpPr>
            <a:spLocks noGrp="1"/>
          </p:cNvSpPr>
          <p:nvPr/>
        </p:nvSpPr>
        <p:spPr>
          <a:xfrm>
            <a:off x="800100" y="6562725"/>
            <a:ext cx="13335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550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550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25C60"/>
                </a:solidFill>
                <a:latin typeface="DejaVu Sans"/>
                <a:ea typeface="DejaVu Sans"/>
                <a:cs typeface="DejaVu Sans"/>
              </a:rPr>
              <a:t>EXP03 teste un batch plus grand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7692D7-67F7-4591-AC46-B4907F919ADA}"/>
              </a:ext>
            </a:extLst>
          </p:cNvPr>
          <p:cNvSpPr>
            <a:spLocks noGrp="1"/>
          </p:cNvSpPr>
          <p:nvPr/>
        </p:nvSpPr>
        <p:spPr>
          <a:xfrm>
            <a:off x="800100" y="7429500"/>
            <a:ext cx="13716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95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À 20 époques : 640 mises à jour par réseau, contre 320 pour EXP03</a:t>
            </a:r>
          </a:p>
        </p:txBody>
      </p:sp>
    </p:spTree>
    <p:extLst>
      <p:ext uri="{BB962C8B-B14F-4D97-AF65-F5344CB8AC3E}">
        <p14:creationId xmlns:p14="http://schemas.microsoft.com/office/powerpoint/2010/main" val="402490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A85F19-98FE-431A-9F27-CB25665E0E7D}"/>
              </a:ext>
            </a:extLst>
          </p:cNvPr>
          <p:cNvSpPr>
            <a:spLocks noGrp="1"/>
          </p:cNvSpPr>
          <p:nvPr/>
        </p:nvSpPr>
        <p:spPr>
          <a:xfrm>
            <a:off x="800100" y="628650"/>
            <a:ext cx="136398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Des couleurs apprises et peu de structures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AC1AA0-44F1-48A6-B308-50F78FD4D404}"/>
              </a:ext>
            </a:extLst>
          </p:cNvPr>
          <p:cNvSpPr>
            <a:spLocks noGrp="1"/>
          </p:cNvSpPr>
          <p:nvPr/>
        </p:nvSpPr>
        <p:spPr>
          <a:xfrm>
            <a:off x="800100" y="7972425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GANISME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EB796F-617E-4D52-8EDF-7E97AFE5BD7C}"/>
              </a:ext>
            </a:extLst>
          </p:cNvPr>
          <p:cNvSpPr>
            <a:spLocks noGrp="1"/>
          </p:cNvSpPr>
          <p:nvPr/>
        </p:nvSpPr>
        <p:spPr>
          <a:xfrm>
            <a:off x="13811250" y="7924800"/>
            <a:ext cx="6286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F9FE6FB-D860-4F05-A7DF-5FA967573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9058" y="2105025"/>
            <a:ext cx="13621883" cy="46958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B044067-49E4-4AB8-9BBF-738B3D85A355}"/>
              </a:ext>
            </a:extLst>
          </p:cNvPr>
          <p:cNvSpPr>
            <a:spLocks noGrp="1"/>
          </p:cNvSpPr>
          <p:nvPr/>
        </p:nvSpPr>
        <p:spPr>
          <a:xfrm>
            <a:off x="800100" y="7200900"/>
            <a:ext cx="135255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rPr>
              <a:t>Les trois configurations restent bruitées et peu reconnaissables</a:t>
            </a:r>
          </a:p>
        </p:txBody>
      </p:sp>
    </p:spTree>
    <p:extLst>
      <p:ext uri="{BB962C8B-B14F-4D97-AF65-F5344CB8AC3E}">
        <p14:creationId xmlns:p14="http://schemas.microsoft.com/office/powerpoint/2010/main" val="1342350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AE68074-ADEA-4373-A30D-7A832463499E}"/>
              </a:ext>
            </a:extLst>
          </p:cNvPr>
          <p:cNvSpPr>
            <a:spLocks noGrp="1"/>
          </p:cNvSpPr>
          <p:nvPr/>
        </p:nvSpPr>
        <p:spPr>
          <a:xfrm>
            <a:off x="800100" y="628650"/>
            <a:ext cx="136398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EXP03 obtient le FID le plus bas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C3E929-AEDC-436A-B946-9F29C7685218}"/>
              </a:ext>
            </a:extLst>
          </p:cNvPr>
          <p:cNvSpPr>
            <a:spLocks noGrp="1"/>
          </p:cNvSpPr>
          <p:nvPr/>
        </p:nvSpPr>
        <p:spPr>
          <a:xfrm>
            <a:off x="800100" y="7972425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GANISME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7C81E7-A9BB-440A-817B-FEA5458D2380}"/>
              </a:ext>
            </a:extLst>
          </p:cNvPr>
          <p:cNvSpPr>
            <a:spLocks noGrp="1"/>
          </p:cNvSpPr>
          <p:nvPr/>
        </p:nvSpPr>
        <p:spPr>
          <a:xfrm>
            <a:off x="13811250" y="7924800"/>
            <a:ext cx="6286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6BD7DAA7-9B6A-4791-8F57-5ED2074AC7EE}"/>
              </a:ext>
            </a:extLst>
          </p:cNvPr>
          <p:cNvGraphicFramePr/>
          <p:nvPr/>
        </p:nvGraphicFramePr>
        <p:xfrm>
          <a:off x="800100" y="2219325"/>
          <a:ext cx="8905875" cy="4857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21EE0A7-A5E1-4365-BF41-EC105B600CFC}"/>
              </a:ext>
            </a:extLst>
          </p:cNvPr>
          <p:cNvSpPr>
            <a:spLocks noGrp="1"/>
          </p:cNvSpPr>
          <p:nvPr/>
        </p:nvSpPr>
        <p:spPr>
          <a:xfrm>
            <a:off x="10572750" y="2619375"/>
            <a:ext cx="4000500" cy="1171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925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925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225C60"/>
                </a:solidFill>
                <a:latin typeface="DejaVu Sans"/>
                <a:ea typeface="DejaVu Sans"/>
                <a:cs typeface="DejaVu Sans"/>
              </a:rPr>
              <a:t>1 000 réelles</a:t>
            </a:r>
          </a:p>
          <a:p>
            <a:pPr>
              <a:defRPr sz="2925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225C60"/>
                </a:solidFill>
                <a:latin typeface="DejaVu Sans"/>
                <a:ea typeface="DejaVu Sans"/>
                <a:cs typeface="DejaVu Sans"/>
              </a:rPr>
              <a:t>1 000 générées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9A969D-4307-40BC-90D0-C23BD2932573}"/>
              </a:ext>
            </a:extLst>
          </p:cNvPr>
          <p:cNvSpPr>
            <a:spLocks noGrp="1"/>
          </p:cNvSpPr>
          <p:nvPr/>
        </p:nvSpPr>
        <p:spPr>
          <a:xfrm>
            <a:off x="10572750" y="4371975"/>
            <a:ext cx="40005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Évaluation à</a:t>
            </a:r>
          </a:p>
          <a:p>
            <a:pPr>
              <a:defRPr sz="24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l’époque 20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94F800-B589-4A55-ADB4-999BA99E485B}"/>
              </a:ext>
            </a:extLst>
          </p:cNvPr>
          <p:cNvSpPr>
            <a:spLocks noGrp="1"/>
          </p:cNvSpPr>
          <p:nvPr/>
        </p:nvSpPr>
        <p:spPr>
          <a:xfrm>
            <a:off x="10572750" y="6076950"/>
            <a:ext cx="4000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Plus bas = distributions</a:t>
            </a:r>
          </a:p>
          <a:p>
            <a:pPr>
              <a:defRPr sz="2025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plus proches selon ce protocole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ACB961-F224-427B-A207-01A0E069F7DB}"/>
              </a:ext>
            </a:extLst>
          </p:cNvPr>
          <p:cNvSpPr>
            <a:spLocks noGrp="1"/>
          </p:cNvSpPr>
          <p:nvPr/>
        </p:nvSpPr>
        <p:spPr>
          <a:xfrm>
            <a:off x="800100" y="7505700"/>
            <a:ext cx="136398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95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AF5B35"/>
                </a:solidFill>
                <a:latin typeface="DejaVu Sans"/>
                <a:ea typeface="DejaVu Sans"/>
                <a:cs typeface="DejaVu Sans"/>
              </a:rPr>
              <a:t>Une comparaison exploratoire, sans certification de qualité artistique</a:t>
            </a:r>
          </a:p>
        </p:txBody>
      </p:sp>
    </p:spTree>
    <p:extLst>
      <p:ext uri="{BB962C8B-B14F-4D97-AF65-F5344CB8AC3E}">
        <p14:creationId xmlns:p14="http://schemas.microsoft.com/office/powerpoint/2010/main" val="423131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3D8CC89-EC3A-41EF-8D3F-894BB441D72F}"/>
              </a:ext>
            </a:extLst>
          </p:cNvPr>
          <p:cNvSpPr>
            <a:spLocks noGrp="1"/>
          </p:cNvSpPr>
          <p:nvPr/>
        </p:nvSpPr>
        <p:spPr>
          <a:xfrm>
            <a:off x="800100" y="628650"/>
            <a:ext cx="136398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Une application Streamlit déployée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AD25AE-5E10-4EF4-B923-D6E64B932F58}"/>
              </a:ext>
            </a:extLst>
          </p:cNvPr>
          <p:cNvSpPr>
            <a:spLocks noGrp="1"/>
          </p:cNvSpPr>
          <p:nvPr/>
        </p:nvSpPr>
        <p:spPr>
          <a:xfrm>
            <a:off x="800100" y="7972425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GANISME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239BC2-44AB-4489-8414-8E505CB26284}"/>
              </a:ext>
            </a:extLst>
          </p:cNvPr>
          <p:cNvSpPr>
            <a:spLocks noGrp="1"/>
          </p:cNvSpPr>
          <p:nvPr/>
        </p:nvSpPr>
        <p:spPr>
          <a:xfrm>
            <a:off x="13811250" y="7924800"/>
            <a:ext cx="6286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E8F6D7D-0E3F-4F3B-AB02-2FB20C302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86174" y="2085975"/>
            <a:ext cx="6047852" cy="50958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C2AC66-3238-4429-B467-56C84DDCD9D2}"/>
              </a:ext>
            </a:extLst>
          </p:cNvPr>
          <p:cNvSpPr>
            <a:spLocks noGrp="1"/>
          </p:cNvSpPr>
          <p:nvPr/>
        </p:nvSpPr>
        <p:spPr>
          <a:xfrm>
            <a:off x="9334500" y="2390775"/>
            <a:ext cx="504825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375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375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225C60"/>
                </a:solidFill>
                <a:latin typeface="DejaVu Sans"/>
                <a:ea typeface="DejaVu Sans"/>
                <a:cs typeface="DejaVu Sans"/>
              </a:rPr>
              <a:t>Le générateur suffit</a:t>
            </a:r>
          </a:p>
          <a:p>
            <a:pPr>
              <a:defRPr sz="3375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225C60"/>
                </a:solidFill>
                <a:latin typeface="DejaVu Sans"/>
                <a:ea typeface="DejaVu Sans"/>
                <a:cs typeface="DejaVu Sans"/>
              </a:rPr>
              <a:t>pour l’inférence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F65035-383F-4FD0-87A4-81BA63D888A6}"/>
              </a:ext>
            </a:extLst>
          </p:cNvPr>
          <p:cNvSpPr>
            <a:spLocks noGrp="1"/>
          </p:cNvSpPr>
          <p:nvPr/>
        </p:nvSpPr>
        <p:spPr>
          <a:xfrm>
            <a:off x="9334500" y="4210050"/>
            <a:ext cx="5048250" cy="2152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250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Chargement des poids une fois</a:t>
            </a:r>
          </a:p>
          <a:p>
            <a:pPr>
              <a:defRPr sz="2250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Nouveau z au clic</a:t>
            </a:r>
          </a:p>
          <a:p>
            <a:pPr>
              <a:defRPr sz="2250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Affichage de 1 à 9 images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7B6CE8-E5BD-402D-97DC-A84EEE57CF75}"/>
              </a:ext>
            </a:extLst>
          </p:cNvPr>
          <p:cNvSpPr>
            <a:spLocks noGrp="1"/>
          </p:cNvSpPr>
          <p:nvPr/>
        </p:nvSpPr>
        <p:spPr>
          <a:xfrm>
            <a:off x="800100" y="7467600"/>
            <a:ext cx="13639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AF5B35"/>
                </a:solidFill>
                <a:latin typeface="DejaVu Sans"/>
                <a:ea typeface="DejaVu Sans"/>
                <a:cs typeface="DejaVu Sans"/>
              </a:rPr>
              <a:t>GitHub et Streamlit Community Cloud</a:t>
            </a:r>
          </a:p>
        </p:txBody>
      </p:sp>
    </p:spTree>
    <p:extLst>
      <p:ext uri="{BB962C8B-B14F-4D97-AF65-F5344CB8AC3E}">
        <p14:creationId xmlns:p14="http://schemas.microsoft.com/office/powerpoint/2010/main" val="1285377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DCEF4B6-2E23-4596-B034-547B02910B43}"/>
              </a:ext>
            </a:extLst>
          </p:cNvPr>
          <p:cNvSpPr>
            <a:spLocks noGrp="1"/>
          </p:cNvSpPr>
          <p:nvPr/>
        </p:nvSpPr>
        <p:spPr>
          <a:xfrm>
            <a:off x="800100" y="628650"/>
            <a:ext cx="136398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4350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4350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6F2EA"/>
                </a:solidFill>
                <a:latin typeface="DejaVu Sans"/>
                <a:ea typeface="DejaVu Sans"/>
                <a:cs typeface="DejaVu Sans"/>
              </a:rPr>
              <a:t>Bilan du projet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37CB3F-262E-417A-8869-ACEEE3356A12}"/>
              </a:ext>
            </a:extLst>
          </p:cNvPr>
          <p:cNvSpPr>
            <a:spLocks noGrp="1"/>
          </p:cNvSpPr>
          <p:nvPr/>
        </p:nvSpPr>
        <p:spPr>
          <a:xfrm>
            <a:off x="800100" y="7972425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DED8CD"/>
                </a:solidFill>
                <a:latin typeface="DejaVu Sans"/>
                <a:ea typeface="DejaVu Sans"/>
                <a:cs typeface="DejaVu Sans"/>
              </a:rPr>
              <a:t>GANISME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AB6693-1A24-421E-815A-CD19E03E829C}"/>
              </a:ext>
            </a:extLst>
          </p:cNvPr>
          <p:cNvSpPr>
            <a:spLocks noGrp="1"/>
          </p:cNvSpPr>
          <p:nvPr/>
        </p:nvSpPr>
        <p:spPr>
          <a:xfrm>
            <a:off x="13811250" y="7924800"/>
            <a:ext cx="6286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0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500" b="0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ED8CD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5AB17D-9E2C-4539-96BF-034F887E35DA}"/>
              </a:ext>
            </a:extLst>
          </p:cNvPr>
          <p:cNvSpPr>
            <a:spLocks noGrp="1"/>
          </p:cNvSpPr>
          <p:nvPr/>
        </p:nvSpPr>
        <p:spPr>
          <a:xfrm>
            <a:off x="800100" y="2247900"/>
            <a:ext cx="13639800" cy="1743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4875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4875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pPr>
            <a:r>
              <a:rPr sz="4875" b="1">
                <a:solidFill>
                  <a:srgbClr val="F6F2EA"/>
                </a:solidFill>
                <a:latin typeface="DejaVu Sans"/>
                <a:ea typeface="DejaVu Sans"/>
                <a:cs typeface="DejaVu Sans"/>
              </a:rPr>
              <a:t>Une démarche complète</a:t>
            </a:r>
          </a:p>
          <a:p>
            <a:pPr>
              <a:defRPr sz="4875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pPr>
            <a:r>
              <a:rPr sz="4875" b="1">
                <a:solidFill>
                  <a:srgbClr val="F6F2EA"/>
                </a:solidFill>
                <a:latin typeface="DejaVu Sans"/>
                <a:ea typeface="DejaVu Sans"/>
                <a:cs typeface="DejaVu Sans"/>
              </a:rPr>
              <a:t>avec des limites mesurées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A131AB-8081-4DAB-81B5-131677FFBAB0}"/>
              </a:ext>
            </a:extLst>
          </p:cNvPr>
          <p:cNvSpPr>
            <a:spLocks noGrp="1"/>
          </p:cNvSpPr>
          <p:nvPr/>
        </p:nvSpPr>
        <p:spPr>
          <a:xfrm>
            <a:off x="800100" y="4572000"/>
            <a:ext cx="13639800" cy="1819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550" b="0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550" b="0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DED8CD"/>
                </a:solidFill>
                <a:latin typeface="DejaVu Sans"/>
                <a:ea typeface="DejaVu Sans"/>
                <a:cs typeface="DejaVu Sans"/>
              </a:rPr>
              <a:t>Données traçables et contrôlées</a:t>
            </a:r>
          </a:p>
          <a:p>
            <a:pPr>
              <a:defRPr sz="2550" b="0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DED8CD"/>
                </a:solidFill>
                <a:latin typeface="DejaVu Sans"/>
                <a:ea typeface="DejaVu Sans"/>
                <a:cs typeface="DejaVu Sans"/>
              </a:rPr>
              <a:t>Apprentissage adversarial mis en œuvre</a:t>
            </a:r>
          </a:p>
          <a:p>
            <a:pPr>
              <a:defRPr sz="2550" b="0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DED8CD"/>
                </a:solidFill>
                <a:latin typeface="DejaVu Sans"/>
                <a:ea typeface="DejaVu Sans"/>
                <a:cs typeface="DejaVu Sans"/>
              </a:rPr>
              <a:t>Expériences comparées et application fonctionnelle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A3ECCC-13BE-4D3A-B68E-BAA9FDA036EA}"/>
              </a:ext>
            </a:extLst>
          </p:cNvPr>
          <p:cNvSpPr>
            <a:spLocks noGrp="1"/>
          </p:cNvSpPr>
          <p:nvPr/>
        </p:nvSpPr>
        <p:spPr>
          <a:xfrm>
            <a:off x="800100" y="6886575"/>
            <a:ext cx="13639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00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6F2EA"/>
                </a:solidFill>
                <a:latin typeface="DejaVu Sans"/>
                <a:ea typeface="DejaVu Sans"/>
                <a:cs typeface="DejaVu Sans"/>
              </a:rPr>
              <a:t>Limite principale : des générations peu reconnaissables</a:t>
            </a:r>
          </a:p>
        </p:txBody>
      </p:sp>
    </p:spTree>
    <p:extLst>
      <p:ext uri="{BB962C8B-B14F-4D97-AF65-F5344CB8AC3E}">
        <p14:creationId xmlns:p14="http://schemas.microsoft.com/office/powerpoint/2010/main" val="18496805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9A3831E-AEE2-4ACD-8B15-162D5E82DE05}"/>
              </a:ext>
            </a:extLst>
          </p:cNvPr>
          <p:cNvSpPr>
            <a:spLocks noGrp="1"/>
          </p:cNvSpPr>
          <p:nvPr/>
        </p:nvSpPr>
        <p:spPr>
          <a:xfrm>
            <a:off x="800100" y="628650"/>
            <a:ext cx="136398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Annexe 1 Les réglages initiaux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CBFDE5-79EB-4402-95D7-70F10ADB2B60}"/>
              </a:ext>
            </a:extLst>
          </p:cNvPr>
          <p:cNvSpPr>
            <a:spLocks noGrp="1"/>
          </p:cNvSpPr>
          <p:nvPr/>
        </p:nvSpPr>
        <p:spPr>
          <a:xfrm>
            <a:off x="800100" y="7972425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ANNEXES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2677C5-E87A-4116-AFE5-0B5E45CD45EB}"/>
              </a:ext>
            </a:extLst>
          </p:cNvPr>
          <p:cNvSpPr>
            <a:spLocks noGrp="1"/>
          </p:cNvSpPr>
          <p:nvPr/>
        </p:nvSpPr>
        <p:spPr>
          <a:xfrm>
            <a:off x="13811250" y="7924800"/>
            <a:ext cx="6286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5FD20DA8-8DE9-4EB8-A197-E0BC6DBACFB5}"/>
              </a:ext>
            </a:extLst>
          </p:cNvPr>
          <p:cNvGraphicFramePr/>
          <p:nvPr/>
        </p:nvGraphicFramePr>
        <p:xfrm>
          <a:off x="800100" y="2000250"/>
          <a:ext cx="13639800" cy="5476872"/>
        </p:xfrm>
        <a:graphic>
          <a:graphicData uri="http://schemas.openxmlformats.org/drawingml/2006/table">
            <a:tbl>
              <a:tblPr/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460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Paramètre</a:t>
                      </a:r>
                    </a:p>
                  </a:txBody>
                  <a:tcPr anchor="ctr">
                    <a:solidFill>
                      <a:srgbClr val="225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Valeur</a:t>
                      </a:r>
                    </a:p>
                  </a:txBody>
                  <a:tcPr anchor="ctr">
                    <a:solidFill>
                      <a:srgbClr val="225C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60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Taille et canaux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32 × 32 et RGB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60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Dimension latente</a:t>
                      </a:r>
                    </a:p>
                  </a:txBody>
                  <a:tcPr anchor="ctr">
                    <a:solidFill>
                      <a:srgbClr val="EC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</a:t>
                      </a:r>
                    </a:p>
                  </a:txBody>
                  <a:tcPr anchor="ctr">
                    <a:solidFill>
                      <a:srgbClr val="ECE8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460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Optimiseur et loss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Adam et BCEWithLogitsLoss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460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Betas</a:t>
                      </a:r>
                    </a:p>
                  </a:txBody>
                  <a:tcPr anchor="ctr">
                    <a:solidFill>
                      <a:srgbClr val="EC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0,5 et 0,999</a:t>
                      </a:r>
                    </a:p>
                  </a:txBody>
                  <a:tcPr anchor="ctr">
                    <a:solidFill>
                      <a:srgbClr val="ECE8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460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Époques et appareil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 et CPU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460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Préprocessing</a:t>
                      </a:r>
                    </a:p>
                  </a:txBody>
                  <a:tcPr anchor="ctr">
                    <a:solidFill>
                      <a:srgbClr val="EC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Crop central et normalisation [−1, 1]</a:t>
                      </a:r>
                    </a:p>
                  </a:txBody>
                  <a:tcPr anchor="ctr">
                    <a:solidFill>
                      <a:srgbClr val="ECE8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460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DataLoader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num_workers = 0 et drop_last = False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9235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0BCC90C-4E34-43AD-A73A-9E06F42B365A}"/>
              </a:ext>
            </a:extLst>
          </p:cNvPr>
          <p:cNvSpPr>
            <a:spLocks noGrp="1"/>
          </p:cNvSpPr>
          <p:nvPr/>
        </p:nvSpPr>
        <p:spPr>
          <a:xfrm>
            <a:off x="800100" y="628650"/>
            <a:ext cx="136398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Annexe 2 Les pertes finales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2A576F-5F89-4DBD-B752-DEE6BA0CBA41}"/>
              </a:ext>
            </a:extLst>
          </p:cNvPr>
          <p:cNvSpPr>
            <a:spLocks noGrp="1"/>
          </p:cNvSpPr>
          <p:nvPr/>
        </p:nvSpPr>
        <p:spPr>
          <a:xfrm>
            <a:off x="800100" y="7972425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ANNEXES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73F0B8-019D-45E1-B1C1-7C57B413653B}"/>
              </a:ext>
            </a:extLst>
          </p:cNvPr>
          <p:cNvSpPr>
            <a:spLocks noGrp="1"/>
          </p:cNvSpPr>
          <p:nvPr/>
        </p:nvSpPr>
        <p:spPr>
          <a:xfrm>
            <a:off x="13811250" y="7924800"/>
            <a:ext cx="6286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738A576A-1649-4F23-803E-27593F749C78}"/>
              </a:ext>
            </a:extLst>
          </p:cNvPr>
          <p:cNvGraphicFramePr/>
          <p:nvPr/>
        </p:nvGraphicFramePr>
        <p:xfrm>
          <a:off x="800100" y="2190750"/>
          <a:ext cx="13639800" cy="3238500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9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Expérience</a:t>
                      </a:r>
                    </a:p>
                  </a:txBody>
                  <a:tcPr anchor="ctr">
                    <a:solidFill>
                      <a:srgbClr val="225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Loss D finale</a:t>
                      </a:r>
                    </a:p>
                  </a:txBody>
                  <a:tcPr anchor="ctr">
                    <a:solidFill>
                      <a:srgbClr val="225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Loss G finale</a:t>
                      </a:r>
                    </a:p>
                  </a:txBody>
                  <a:tcPr anchor="ctr">
                    <a:solidFill>
                      <a:srgbClr val="225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Minutes</a:t>
                      </a:r>
                    </a:p>
                  </a:txBody>
                  <a:tcPr anchor="ctr">
                    <a:solidFill>
                      <a:srgbClr val="225C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0,3715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3,2351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8,71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EXP02</a:t>
                      </a:r>
                    </a:p>
                  </a:txBody>
                  <a:tcPr anchor="ctr">
                    <a:solidFill>
                      <a:srgbClr val="EC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0,7260</a:t>
                      </a:r>
                    </a:p>
                  </a:txBody>
                  <a:tcPr anchor="ctr">
                    <a:solidFill>
                      <a:srgbClr val="EC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2,5071</a:t>
                      </a:r>
                    </a:p>
                  </a:txBody>
                  <a:tcPr anchor="ctr">
                    <a:solidFill>
                      <a:srgbClr val="EC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8,91</a:t>
                      </a:r>
                    </a:p>
                  </a:txBody>
                  <a:tcPr anchor="ctr">
                    <a:solidFill>
                      <a:srgbClr val="ECE8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0,3171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3,1368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6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8,68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DC8FF9F-172F-4B63-A429-E2CC1A683D65}"/>
              </a:ext>
            </a:extLst>
          </p:cNvPr>
          <p:cNvSpPr>
            <a:spLocks noGrp="1"/>
          </p:cNvSpPr>
          <p:nvPr/>
        </p:nvSpPr>
        <p:spPr>
          <a:xfrm>
            <a:off x="800100" y="6096000"/>
            <a:ext cx="136398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075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075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25C60"/>
                </a:solidFill>
                <a:latin typeface="DejaVu Sans"/>
                <a:ea typeface="DejaVu Sans"/>
                <a:cs typeface="DejaVu Sans"/>
              </a:rPr>
              <a:t>EXP02 baisse la loss de G mais augmente le FID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C68ACA-DE17-4D88-B5F1-7C7A05774151}"/>
              </a:ext>
            </a:extLst>
          </p:cNvPr>
          <p:cNvSpPr>
            <a:spLocks noGrp="1"/>
          </p:cNvSpPr>
          <p:nvPr/>
        </p:nvSpPr>
        <p:spPr>
          <a:xfrm>
            <a:off x="800100" y="7315200"/>
            <a:ext cx="13639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Durées hors sauvegardes. Résultats à l’époque 20.</a:t>
            </a:r>
          </a:p>
        </p:txBody>
      </p:sp>
    </p:spTree>
    <p:extLst>
      <p:ext uri="{BB962C8B-B14F-4D97-AF65-F5344CB8AC3E}">
        <p14:creationId xmlns:p14="http://schemas.microsoft.com/office/powerpoint/2010/main" val="1094272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71090A4-A011-4528-B2F6-31F378496716}"/>
              </a:ext>
            </a:extLst>
          </p:cNvPr>
          <p:cNvSpPr>
            <a:spLocks noGrp="1"/>
          </p:cNvSpPr>
          <p:nvPr/>
        </p:nvSpPr>
        <p:spPr>
          <a:xfrm>
            <a:off x="800100" y="628650"/>
            <a:ext cx="136398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Annexe 3 Les limites du protocole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589701-8521-4A49-8F53-D5087350FA49}"/>
              </a:ext>
            </a:extLst>
          </p:cNvPr>
          <p:cNvSpPr>
            <a:spLocks noGrp="1"/>
          </p:cNvSpPr>
          <p:nvPr/>
        </p:nvSpPr>
        <p:spPr>
          <a:xfrm>
            <a:off x="800100" y="7972425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ANNEXES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A670AC-470A-438F-81F0-BFD71EDADCEB}"/>
              </a:ext>
            </a:extLst>
          </p:cNvPr>
          <p:cNvSpPr>
            <a:spLocks noGrp="1"/>
          </p:cNvSpPr>
          <p:nvPr/>
        </p:nvSpPr>
        <p:spPr>
          <a:xfrm>
            <a:off x="13811250" y="7924800"/>
            <a:ext cx="6286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D199C5-B77B-4120-BD8D-F3BDC07A6F82}"/>
              </a:ext>
            </a:extLst>
          </p:cNvPr>
          <p:cNvSpPr>
            <a:spLocks noGrp="1"/>
          </p:cNvSpPr>
          <p:nvPr/>
        </p:nvSpPr>
        <p:spPr>
          <a:xfrm>
            <a:off x="800100" y="220027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BBF37F-9AE5-4BFD-8020-BE7D6B46D1AA}"/>
              </a:ext>
            </a:extLst>
          </p:cNvPr>
          <p:cNvSpPr>
            <a:spLocks noGrp="1"/>
          </p:cNvSpPr>
          <p:nvPr/>
        </p:nvSpPr>
        <p:spPr>
          <a:xfrm>
            <a:off x="1676400" y="2200275"/>
            <a:ext cx="127635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Échantillon séquentiel de 1 000 images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F29E2E-A5E8-4E95-883E-AA32E47F8C28}"/>
              </a:ext>
            </a:extLst>
          </p:cNvPr>
          <p:cNvSpPr>
            <a:spLocks noGrp="1"/>
          </p:cNvSpPr>
          <p:nvPr/>
        </p:nvSpPr>
        <p:spPr>
          <a:xfrm>
            <a:off x="800100" y="3238500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D89C4B-8BC0-4A53-AC75-C7259DBF9A86}"/>
              </a:ext>
            </a:extLst>
          </p:cNvPr>
          <p:cNvSpPr>
            <a:spLocks noGrp="1"/>
          </p:cNvSpPr>
          <p:nvPr/>
        </p:nvSpPr>
        <p:spPr>
          <a:xfrm>
            <a:off x="1676400" y="3238500"/>
            <a:ext cx="127635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Une seule exécution par configuration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DC6E68-05B7-4483-B898-245457607E0F}"/>
              </a:ext>
            </a:extLst>
          </p:cNvPr>
          <p:cNvSpPr>
            <a:spLocks noGrp="1"/>
          </p:cNvSpPr>
          <p:nvPr/>
        </p:nvSpPr>
        <p:spPr>
          <a:xfrm>
            <a:off x="800100" y="42767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0BE406-3D1C-4791-8C1B-FE1B89039BD3}"/>
              </a:ext>
            </a:extLst>
          </p:cNvPr>
          <p:cNvSpPr>
            <a:spLocks noGrp="1"/>
          </p:cNvSpPr>
          <p:nvPr/>
        </p:nvSpPr>
        <p:spPr>
          <a:xfrm>
            <a:off x="1676400" y="4276725"/>
            <a:ext cx="127635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Nombre de mises à jour différent pour EXP03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F233FE-0BE0-4216-9907-FB6FA0BC20E1}"/>
              </a:ext>
            </a:extLst>
          </p:cNvPr>
          <p:cNvSpPr>
            <a:spLocks noGrp="1"/>
          </p:cNvSpPr>
          <p:nvPr/>
        </p:nvSpPr>
        <p:spPr>
          <a:xfrm>
            <a:off x="800100" y="5314950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BD4122-9799-4FAC-BD31-DD06E559FFE2}"/>
              </a:ext>
            </a:extLst>
          </p:cNvPr>
          <p:cNvSpPr>
            <a:spLocks noGrp="1"/>
          </p:cNvSpPr>
          <p:nvPr/>
        </p:nvSpPr>
        <p:spPr>
          <a:xfrm>
            <a:off x="1676400" y="5314950"/>
            <a:ext cx="127635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FID calculé sur le corpus d’apprentissage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B55796-0542-4BF5-B5AE-8CD6F16AD838}"/>
              </a:ext>
            </a:extLst>
          </p:cNvPr>
          <p:cNvSpPr>
            <a:spLocks noGrp="1"/>
          </p:cNvSpPr>
          <p:nvPr/>
        </p:nvSpPr>
        <p:spPr>
          <a:xfrm>
            <a:off x="800100" y="635317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AF5B35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EC6E52-524E-4E94-8EFC-21F9873895DC}"/>
              </a:ext>
            </a:extLst>
          </p:cNvPr>
          <p:cNvSpPr>
            <a:spLocks noGrp="1"/>
          </p:cNvSpPr>
          <p:nvPr/>
        </p:nvSpPr>
        <p:spPr>
          <a:xfrm>
            <a:off x="1676400" y="6353175"/>
            <a:ext cx="127635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Scripts simplifiés après les premières exécutions</a:t>
            </a:r>
          </a:p>
        </p:txBody>
      </p:sp>
    </p:spTree>
    <p:extLst>
      <p:ext uri="{BB962C8B-B14F-4D97-AF65-F5344CB8AC3E}">
        <p14:creationId xmlns:p14="http://schemas.microsoft.com/office/powerpoint/2010/main" val="13762244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095BB9C-3E81-45F6-BC29-774857592843}"/>
              </a:ext>
            </a:extLst>
          </p:cNvPr>
          <p:cNvSpPr>
            <a:spLocks noGrp="1"/>
          </p:cNvSpPr>
          <p:nvPr/>
        </p:nvSpPr>
        <p:spPr>
          <a:xfrm>
            <a:off x="800100" y="628650"/>
            <a:ext cx="136398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Annexe 4 Les références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C11555-3CB7-4BD5-9614-1B36879D516E}"/>
              </a:ext>
            </a:extLst>
          </p:cNvPr>
          <p:cNvSpPr>
            <a:spLocks noGrp="1"/>
          </p:cNvSpPr>
          <p:nvPr/>
        </p:nvSpPr>
        <p:spPr>
          <a:xfrm>
            <a:off x="800100" y="7972425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ANNEXES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707871-AD3C-494B-8AB8-CDCF40E997DD}"/>
              </a:ext>
            </a:extLst>
          </p:cNvPr>
          <p:cNvSpPr>
            <a:spLocks noGrp="1"/>
          </p:cNvSpPr>
          <p:nvPr/>
        </p:nvSpPr>
        <p:spPr>
          <a:xfrm>
            <a:off x="13811250" y="7924800"/>
            <a:ext cx="6286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86D68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D06689-78F9-46F8-AA79-49B887398652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13639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700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25C60"/>
                </a:solidFill>
                <a:latin typeface="DejaVu Sans"/>
                <a:ea typeface="DejaVu Sans"/>
                <a:cs typeface="DejaVu Sans"/>
              </a:rPr>
              <a:t>Tutoriel officiel PyTorch DCGAN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C14D12-7993-4940-B29E-6C9567E3A3DD}"/>
              </a:ext>
            </a:extLst>
          </p:cNvPr>
          <p:cNvSpPr>
            <a:spLocks noGrp="1"/>
          </p:cNvSpPr>
          <p:nvPr/>
        </p:nvSpPr>
        <p:spPr>
          <a:xfrm>
            <a:off x="800100" y="2943225"/>
            <a:ext cx="13639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Architecture convolutive, Tanh et boucle d’entraînement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548C66-CF82-4110-A6C8-D75052713AE6}"/>
              </a:ext>
            </a:extLst>
          </p:cNvPr>
          <p:cNvSpPr>
            <a:spLocks noGrp="1"/>
          </p:cNvSpPr>
          <p:nvPr/>
        </p:nvSpPr>
        <p:spPr>
          <a:xfrm>
            <a:off x="800100" y="3981450"/>
            <a:ext cx="13639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700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25C60"/>
                </a:solidFill>
                <a:latin typeface="DejaVu Sans"/>
                <a:ea typeface="DejaVu Sans"/>
                <a:cs typeface="DejaVu Sans"/>
              </a:rPr>
              <a:t>Goodfellow et al. 2014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B4C09A-D677-4589-AB96-A6FB0C73CBD1}"/>
              </a:ext>
            </a:extLst>
          </p:cNvPr>
          <p:cNvSpPr>
            <a:spLocks noGrp="1"/>
          </p:cNvSpPr>
          <p:nvPr/>
        </p:nvSpPr>
        <p:spPr>
          <a:xfrm>
            <a:off x="800100" y="4752975"/>
            <a:ext cx="13639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Principe des GAN et objectif du générateur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E44E5F-4E54-459A-8C74-FFDA786B2560}"/>
              </a:ext>
            </a:extLst>
          </p:cNvPr>
          <p:cNvSpPr>
            <a:spLocks noGrp="1"/>
          </p:cNvSpPr>
          <p:nvPr/>
        </p:nvSpPr>
        <p:spPr>
          <a:xfrm>
            <a:off x="800100" y="5791200"/>
            <a:ext cx="13639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700" b="1">
                <a:solidFill>
                  <a:srgbClr val="225C6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25C60"/>
                </a:solidFill>
                <a:latin typeface="DejaVu Sans"/>
                <a:ea typeface="DejaVu Sans"/>
                <a:cs typeface="DejaVu Sans"/>
              </a:rPr>
              <a:t>Heusel et al. 2017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508FE0-C99B-44E1-BB56-34B0349AC75D}"/>
              </a:ext>
            </a:extLst>
          </p:cNvPr>
          <p:cNvSpPr>
            <a:spLocks noGrp="1"/>
          </p:cNvSpPr>
          <p:nvPr/>
        </p:nvSpPr>
        <p:spPr>
          <a:xfrm>
            <a:off x="800100" y="6562725"/>
            <a:ext cx="13639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22262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22623"/>
                </a:solidFill>
                <a:latin typeface="DejaVu Sans"/>
                <a:ea typeface="DejaVu Sans"/>
                <a:cs typeface="DejaVu Sans"/>
              </a:rPr>
              <a:t>Fréchet Inception Distance</a:t>
            </a:r>
          </a:p>
        </p:txBody>
      </p:sp>
    </p:spTree>
    <p:extLst>
      <p:ext uri="{BB962C8B-B14F-4D97-AF65-F5344CB8AC3E}">
        <p14:creationId xmlns:p14="http://schemas.microsoft.com/office/powerpoint/2010/main" val="1356319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9C9CEC1-0413-4FA3-B3CF-37D8F4534C1E}"/>
              </a:ext>
            </a:extLst>
          </p:cNvPr>
          <p:cNvSpPr>
            <a:spLocks noGrp="1"/>
          </p:cNvSpPr>
          <p:nvPr/>
        </p:nvSpPr>
        <p:spPr>
          <a:xfrm>
            <a:off x="800100" y="3714750"/>
            <a:ext cx="136398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4350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4350" b="1">
                <a:solidFill>
                  <a:srgbClr val="F6F2EA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 dirty="0">
                <a:solidFill>
                  <a:srgbClr val="F6F2EA"/>
                </a:solidFill>
                <a:latin typeface="DejaVu Sans"/>
                <a:ea typeface="DejaVu Sans"/>
                <a:cs typeface="DejaVu Sans"/>
              </a:rPr>
              <a:t>Questions 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50B7D2-475F-43B6-BAFB-75DD2D3711EA}"/>
              </a:ext>
            </a:extLst>
          </p:cNvPr>
          <p:cNvSpPr>
            <a:spLocks noGrp="1"/>
          </p:cNvSpPr>
          <p:nvPr/>
        </p:nvSpPr>
        <p:spPr>
          <a:xfrm>
            <a:off x="13811250" y="7924800"/>
            <a:ext cx="6286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0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500" b="0">
                <a:solidFill>
                  <a:srgbClr val="DED8C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ED8CD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75270818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819</Words>
  <Application>Microsoft Office PowerPoint</Application>
  <DocSecurity>0</DocSecurity>
  <PresentationFormat>Personnalisé</PresentationFormat>
  <Paragraphs>262</Paragraphs>
  <Slides>20</Slides>
  <Notes>20</Notes>
  <HiddenSlides>4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3" baseType="lpstr">
      <vt:lpstr>Aptos</vt:lpstr>
      <vt:lpstr>DejaVu Sans</vt:lpstr>
      <vt:lpstr>ChatGPT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Aurelien Adjimi</cp:lastModifiedBy>
  <cp:revision>2</cp:revision>
  <dcterms:created xsi:type="dcterms:W3CDTF">2026-10-12T07:30:58Z</dcterms:created>
  <dcterms:modified xsi:type="dcterms:W3CDTF">2026-10-15T07:11:30Z</dcterms:modified>
</cp:coreProperties>
</file>